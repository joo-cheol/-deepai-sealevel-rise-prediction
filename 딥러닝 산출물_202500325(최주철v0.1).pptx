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9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5" r:id="rId9"/>
    <p:sldId id="279" r:id="rId10"/>
    <p:sldId id="263" r:id="rId11"/>
    <p:sldId id="264" r:id="rId12"/>
    <p:sldId id="265" r:id="rId13"/>
    <p:sldId id="266" r:id="rId14"/>
    <p:sldId id="280" r:id="rId15"/>
    <p:sldId id="267" r:id="rId16"/>
    <p:sldId id="268" r:id="rId17"/>
    <p:sldId id="269" r:id="rId18"/>
    <p:sldId id="270" r:id="rId19"/>
    <p:sldId id="271" r:id="rId20"/>
    <p:sldId id="273" r:id="rId21"/>
    <p:sldId id="277" r:id="rId22"/>
    <p:sldId id="274" r:id="rId23"/>
    <p:sldId id="278" r:id="rId24"/>
  </p:sldIdLst>
  <p:sldSz cx="9906000" cy="6858000" type="A4"/>
  <p:notesSz cx="6881813" cy="10002838"/>
  <p:embeddedFontLst>
    <p:embeddedFont>
      <p:font typeface="KoPub돋움체 Bold" panose="02020603020101020101" pitchFamily="18" charset="-127"/>
      <p:regular r:id="rId27"/>
    </p:embeddedFont>
    <p:embeddedFont>
      <p:font typeface="KoPub돋움체 Light" panose="02020603020101020101" pitchFamily="18" charset="-127"/>
      <p:regular r:id="rId28"/>
    </p:embeddedFont>
    <p:embeddedFont>
      <p:font typeface="KoPub돋움체 Medium" panose="02020603020101020101" pitchFamily="18" charset="-127"/>
      <p:regular r:id="rId29"/>
    </p:embeddedFont>
    <p:embeddedFont>
      <p:font typeface="맑은 고딕" panose="020B0503020000020004" pitchFamily="50" charset="-127"/>
      <p:regular r:id="rId30"/>
      <p:bold r:id="rId31"/>
    </p:embeddedFont>
  </p:embeddedFontLst>
  <p:defaultTextStyle>
    <a:defPPr>
      <a:defRPr lang="ko-KR"/>
    </a:defPPr>
    <a:lvl1pPr algn="ctr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ctr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ctr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ctr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ctr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119">
          <p15:clr>
            <a:srgbClr val="A4A3A4"/>
          </p15:clr>
        </p15:guide>
        <p15:guide id="3" pos="171">
          <p15:clr>
            <a:srgbClr val="A4A3A4"/>
          </p15:clr>
        </p15:guide>
        <p15:guide id="4" pos="60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0">
          <p15:clr>
            <a:srgbClr val="A4A3A4"/>
          </p15:clr>
        </p15:guide>
        <p15:guide id="2" pos="216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9" autoAdjust="0"/>
    <p:restoredTop sz="99320" autoAdjust="0"/>
  </p:normalViewPr>
  <p:slideViewPr>
    <p:cSldViewPr>
      <p:cViewPr varScale="1">
        <p:scale>
          <a:sx n="110" d="100"/>
          <a:sy n="110" d="100"/>
        </p:scale>
        <p:origin x="1208" y="-32"/>
      </p:cViewPr>
      <p:guideLst>
        <p:guide orient="horz" pos="2159"/>
        <p:guide pos="3119"/>
        <p:guide pos="171"/>
        <p:guide pos="60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75" d="100"/>
          <a:sy n="75" d="100"/>
        </p:scale>
        <p:origin x="-2730" y="-90"/>
      </p:cViewPr>
      <p:guideLst>
        <p:guide orient="horz" pos="3150"/>
        <p:guide pos="216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1" y="0"/>
            <a:ext cx="2982119" cy="50014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1816" tIns="45909" rIns="91816" bIns="45909" anchor="t" anchorCtr="0">
            <a:prstTxWarp prst="textNoShape">
              <a:avLst/>
            </a:prstTxWarp>
          </a:bodyPr>
          <a:lstStyle>
            <a:lvl1pPr algn="l">
              <a:defRPr sz="120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98102" y="0"/>
            <a:ext cx="2982119" cy="50014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1816" tIns="45909" rIns="91816" bIns="45909" anchor="t" anchorCtr="0">
            <a:prstTxWarp prst="textNoShape">
              <a:avLst/>
            </a:prstTxWarp>
          </a:bodyPr>
          <a:lstStyle>
            <a:lvl1pPr algn="r">
              <a:defRPr sz="120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43364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1" y="9500961"/>
            <a:ext cx="2982119" cy="50014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1816" tIns="45909" rIns="91816" bIns="45909" anchor="b" anchorCtr="0">
            <a:prstTxWarp prst="textNoShape">
              <a:avLst/>
            </a:prstTxWarp>
          </a:bodyPr>
          <a:lstStyle>
            <a:lvl1pPr algn="l">
              <a:defRPr sz="120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43365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98102" y="9500961"/>
            <a:ext cx="2982119" cy="500142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1816" tIns="45909" rIns="91816" bIns="45909" anchor="b" anchorCtr="0">
            <a:prstTxWarp prst="textNoShape">
              <a:avLst/>
            </a:prstTxWarp>
          </a:bodyPr>
          <a:lstStyle>
            <a:lvl1pPr algn="r">
              <a:defRPr sz="1200">
                <a:latin typeface="굴림"/>
                <a:ea typeface="굴림"/>
              </a:defRPr>
            </a:lvl1pPr>
          </a:lstStyle>
          <a:p>
            <a:pPr>
              <a:defRPr/>
            </a:pPr>
            <a:fld id="{E852C77B-CEAE-4A98-84AB-CB70E7CF75B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2119" cy="500142"/>
          </a:xfrm>
          <a:prstGeom prst="rect">
            <a:avLst/>
          </a:prstGeom>
        </p:spPr>
        <p:txBody>
          <a:bodyPr vert="horz" lIns="91816" tIns="45909" rIns="91816" bIns="45909"/>
          <a:lstStyle>
            <a:lvl1pPr algn="l">
              <a:defRPr sz="120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500142"/>
          </a:xfrm>
          <a:prstGeom prst="rect">
            <a:avLst/>
          </a:prstGeom>
        </p:spPr>
        <p:txBody>
          <a:bodyPr vert="horz" lIns="91816" tIns="45909" rIns="91816" bIns="45909"/>
          <a:lstStyle>
            <a:lvl1pPr algn="r">
              <a:defRPr sz="1200">
                <a:latin typeface="굴림"/>
                <a:ea typeface="굴림"/>
              </a:defRPr>
            </a:lvl1pPr>
          </a:lstStyle>
          <a:p>
            <a:pPr>
              <a:defRPr/>
            </a:pPr>
            <a:fld id="{990817D5-5BFA-480D-B185-F03A08F0CDAE}" type="datetime1">
              <a:rPr lang="ko-KR" altLang="en-US"/>
              <a:pPr>
                <a:defRPr/>
              </a:pPr>
              <a:t>2025-03-26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733425" y="750888"/>
            <a:ext cx="5414963" cy="3749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6" tIns="45909" rIns="91816" bIns="45909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182" y="4751349"/>
            <a:ext cx="5505450" cy="4501277"/>
          </a:xfrm>
          <a:prstGeom prst="rect">
            <a:avLst/>
          </a:prstGeom>
        </p:spPr>
        <p:txBody>
          <a:bodyPr vert="horz" lIns="91816" tIns="45909" rIns="91816" bIns="45909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500961"/>
            <a:ext cx="2982119" cy="500142"/>
          </a:xfrm>
          <a:prstGeom prst="rect">
            <a:avLst/>
          </a:prstGeom>
        </p:spPr>
        <p:txBody>
          <a:bodyPr vert="horz" lIns="91816" tIns="45909" rIns="91816" bIns="45909" anchor="b"/>
          <a:lstStyle>
            <a:lvl1pPr algn="l">
              <a:defRPr sz="120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98102" y="9500961"/>
            <a:ext cx="2982119" cy="500142"/>
          </a:xfrm>
          <a:prstGeom prst="rect">
            <a:avLst/>
          </a:prstGeom>
        </p:spPr>
        <p:txBody>
          <a:bodyPr vert="horz" lIns="91816" tIns="45909" rIns="91816" bIns="45909" anchor="b"/>
          <a:lstStyle>
            <a:lvl1pPr algn="r">
              <a:defRPr sz="1200">
                <a:latin typeface="굴림"/>
                <a:ea typeface="굴림"/>
              </a:defRPr>
            </a:lvl1pPr>
          </a:lstStyle>
          <a:p>
            <a:pPr>
              <a:defRPr/>
            </a:pPr>
            <a:fld id="{5EBEA7B1-B0C3-45DA-A82D-0607303C732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2"/>
          <p:cNvSpPr>
            <a:spLocks noChangeArrowheads="1"/>
          </p:cNvSpPr>
          <p:nvPr userDrawn="1"/>
        </p:nvSpPr>
        <p:spPr bwMode="auto">
          <a:xfrm>
            <a:off x="5118100" y="6532564"/>
            <a:ext cx="536575" cy="223837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7"/>
          <p:cNvSpPr txBox="1">
            <a:spLocks/>
          </p:cNvSpPr>
          <p:nvPr userDrawn="1"/>
        </p:nvSpPr>
        <p:spPr>
          <a:xfrm>
            <a:off x="4017434" y="6461126"/>
            <a:ext cx="1910689" cy="568325"/>
          </a:xfrm>
          <a:prstGeom prst="rect">
            <a:avLst/>
          </a:prstGeom>
        </p:spPr>
        <p:txBody>
          <a:bodyPr lIns="99569" tIns="49785" rIns="99569" bIns="49785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1100" b="1" kern="1200">
                <a:solidFill>
                  <a:schemeClr val="tx1"/>
                </a:solidFill>
                <a:latin typeface="Rix고딕 L" pitchFamily="18" charset="-127"/>
                <a:ea typeface="Rix고딕 L" pitchFamily="18" charset="-127"/>
                <a:cs typeface="+mn-cs"/>
              </a:defRPr>
            </a:lvl1pPr>
            <a:lvl2pPr marL="456292" indent="-36445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Rix고딕 L" pitchFamily="18" charset="-127"/>
                <a:ea typeface="Rix고딕 L" pitchFamily="18" charset="-127"/>
                <a:cs typeface="+mn-cs"/>
              </a:defRPr>
            </a:lvl2pPr>
            <a:lvl3pPr marL="914042" indent="-74348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Rix고딕 L" pitchFamily="18" charset="-127"/>
                <a:ea typeface="Rix고딕 L" pitchFamily="18" charset="-127"/>
                <a:cs typeface="+mn-cs"/>
              </a:defRPr>
            </a:lvl3pPr>
            <a:lvl4pPr marL="1370333" indent="-110793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Rix고딕 L" pitchFamily="18" charset="-127"/>
                <a:ea typeface="Rix고딕 L" pitchFamily="18" charset="-127"/>
                <a:cs typeface="+mn-cs"/>
              </a:defRPr>
            </a:lvl4pPr>
            <a:lvl5pPr marL="1828083" indent="-148696" algn="l" rtl="0" fontAlgn="base" latinLnBrk="1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tx1"/>
                </a:solidFill>
                <a:latin typeface="Rix고딕 L" pitchFamily="18" charset="-127"/>
                <a:ea typeface="Rix고딕 L" pitchFamily="18" charset="-127"/>
                <a:cs typeface="+mn-cs"/>
              </a:defRPr>
            </a:lvl5pPr>
            <a:lvl6pPr marL="2099234" algn="l" defTabSz="839694" rtl="0" eaLnBrk="1" latinLnBrk="1" hangingPunct="1">
              <a:defRPr kumimoji="1" sz="1000" kern="1200">
                <a:solidFill>
                  <a:schemeClr val="tx1"/>
                </a:solidFill>
                <a:latin typeface="Rix고딕 L" pitchFamily="18" charset="-127"/>
                <a:ea typeface="Rix고딕 L" pitchFamily="18" charset="-127"/>
                <a:cs typeface="+mn-cs"/>
              </a:defRPr>
            </a:lvl6pPr>
            <a:lvl7pPr marL="2519081" algn="l" defTabSz="839694" rtl="0" eaLnBrk="1" latinLnBrk="1" hangingPunct="1">
              <a:defRPr kumimoji="1" sz="1000" kern="1200">
                <a:solidFill>
                  <a:schemeClr val="tx1"/>
                </a:solidFill>
                <a:latin typeface="Rix고딕 L" pitchFamily="18" charset="-127"/>
                <a:ea typeface="Rix고딕 L" pitchFamily="18" charset="-127"/>
                <a:cs typeface="+mn-cs"/>
              </a:defRPr>
            </a:lvl7pPr>
            <a:lvl8pPr marL="2938927" algn="l" defTabSz="839694" rtl="0" eaLnBrk="1" latinLnBrk="1" hangingPunct="1">
              <a:defRPr kumimoji="1" sz="1000" kern="1200">
                <a:solidFill>
                  <a:schemeClr val="tx1"/>
                </a:solidFill>
                <a:latin typeface="Rix고딕 L" pitchFamily="18" charset="-127"/>
                <a:ea typeface="Rix고딕 L" pitchFamily="18" charset="-127"/>
                <a:cs typeface="+mn-cs"/>
              </a:defRPr>
            </a:lvl8pPr>
            <a:lvl9pPr marL="3358774" algn="l" defTabSz="839694" rtl="0" eaLnBrk="1" latinLnBrk="1" hangingPunct="1">
              <a:defRPr kumimoji="1" sz="1000" kern="1200">
                <a:solidFill>
                  <a:schemeClr val="tx1"/>
                </a:solidFill>
                <a:latin typeface="Rix고딕 L" pitchFamily="18" charset="-127"/>
                <a:ea typeface="Rix고딕 L" pitchFamily="18" charset="-127"/>
                <a:cs typeface="+mn-cs"/>
              </a:defRPr>
            </a:lvl9pPr>
          </a:lstStyle>
          <a:p>
            <a:pPr>
              <a:defRPr/>
            </a:pPr>
            <a:fld id="{95631B65-E6D5-4CBC-BA4B-F51FB262ECC2}" type="slidenum">
              <a:rPr lang="ko-KR" altLang="en-US" sz="9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46731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79457" y="6356350"/>
            <a:ext cx="31369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Rix고딕 M" panose="02020603020101020101" pitchFamily="18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837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 userDrawn="1"/>
        </p:nvSpPr>
        <p:spPr>
          <a:xfrm>
            <a:off x="6279148" y="78533"/>
            <a:ext cx="36268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인공지능개발 양성과정</a:t>
            </a:r>
            <a:r>
              <a:rPr lang="en-US" altLang="ko-KR" sz="120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_</a:t>
            </a:r>
            <a:r>
              <a:rPr lang="ko-KR" altLang="en-US" sz="120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딥러닝 산출물</a:t>
            </a:r>
            <a:endParaRPr lang="ko-KR" altLang="en-US" sz="120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D:\디비비전_ 작업\작업물_work\제안서\종로구시설관리공단\가로제안서표지.jpg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-49583"/>
            <a:ext cx="9918000" cy="6892594"/>
          </a:xfrm>
          <a:prstGeom prst="rect">
            <a:avLst/>
          </a:prstGeom>
          <a:noFill/>
        </p:spPr>
      </p:pic>
      <p:grpSp>
        <p:nvGrpSpPr>
          <p:cNvPr id="13" name="그룹 12"/>
          <p:cNvGrpSpPr/>
          <p:nvPr/>
        </p:nvGrpSpPr>
        <p:grpSpPr>
          <a:xfrm flipV="1">
            <a:off x="848544" y="1556791"/>
            <a:ext cx="5760640" cy="79109"/>
            <a:chOff x="632984" y="2060847"/>
            <a:chExt cx="4176000" cy="45720"/>
          </a:xfrm>
        </p:grpSpPr>
        <p:sp>
          <p:nvSpPr>
            <p:cNvPr id="14" name="직사각형 13"/>
            <p:cNvSpPr/>
            <p:nvPr/>
          </p:nvSpPr>
          <p:spPr>
            <a:xfrm>
              <a:off x="632984" y="2060848"/>
              <a:ext cx="4176000" cy="4571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맑은 고딕"/>
                <a:ea typeface="맑은 고딕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1910984" y="2060847"/>
              <a:ext cx="1620000" cy="45719"/>
            </a:xfrm>
            <a:prstGeom prst="rect">
              <a:avLst/>
            </a:prstGeom>
            <a:solidFill>
              <a:srgbClr val="E8C9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맑은 고딕"/>
                <a:ea typeface="맑은 고딕"/>
              </a:endParaRPr>
            </a:p>
          </p:txBody>
        </p:sp>
      </p:grpSp>
      <p:sp>
        <p:nvSpPr>
          <p:cNvPr id="18" name="TextBox 34"/>
          <p:cNvSpPr txBox="1">
            <a:spLocks noChangeArrowheads="1"/>
          </p:cNvSpPr>
          <p:nvPr/>
        </p:nvSpPr>
        <p:spPr>
          <a:xfrm>
            <a:off x="757486" y="1763291"/>
            <a:ext cx="7515928" cy="635104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ko-KR" altLang="en-US" sz="3600">
                <a:latin typeface="KoPub돋움체 Bold"/>
                <a:ea typeface="KoPub돋움체 Bold"/>
              </a:rPr>
              <a:t>해수면 상승 예측모델 개발 및 시각화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8544" y="4172912"/>
            <a:ext cx="1944216" cy="359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80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/>
                <a:ea typeface="나눔바른고딕"/>
              </a:rPr>
              <a:t>작성자 </a:t>
            </a:r>
            <a:r>
              <a:rPr lang="en-US" altLang="ko-KR" sz="180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/>
                <a:ea typeface="나눔바른고딕"/>
              </a:rPr>
              <a:t>: </a:t>
            </a:r>
            <a:r>
              <a:rPr lang="ko-KR" altLang="en-US" sz="180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/>
                <a:ea typeface="KoPub돋움체 Bold"/>
              </a:rPr>
              <a:t>최주철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2607" y="19277"/>
            <a:ext cx="25486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160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/>
                <a:ea typeface="KoPub돋움체 Bold"/>
              </a:rPr>
              <a:t>인공지능개발 양성과정</a:t>
            </a:r>
            <a:endParaRPr lang="ko-KR" altLang="en-US" sz="1600">
              <a:latin typeface="KoPub돋움체 Bold"/>
              <a:ea typeface="KoPub돋움체 Bold"/>
            </a:endParaRPr>
          </a:p>
        </p:txBody>
      </p:sp>
      <p:sp>
        <p:nvSpPr>
          <p:cNvPr id="2" name="타원 1"/>
          <p:cNvSpPr/>
          <p:nvPr/>
        </p:nvSpPr>
        <p:spPr>
          <a:xfrm>
            <a:off x="6277926" y="3861731"/>
            <a:ext cx="1153885" cy="1153885"/>
          </a:xfrm>
          <a:prstGeom prst="ellipse">
            <a:avLst/>
          </a:prstGeom>
          <a:solidFill>
            <a:srgbClr val="E2EAEC"/>
          </a:solidFill>
          <a:ln w="9525" cap="flat" cmpd="sng" algn="ctr">
            <a:noFill/>
            <a:prstDash val="solid"/>
            <a:round/>
          </a:ln>
          <a:effectLst/>
        </p:spPr>
        <p:txBody>
          <a:bodyPr vert="horz" wrap="square" lIns="0" tIns="0" rIns="0" bIns="0" anchor="ctr" anchorCtr="0">
            <a:prstTxWarp prst="textNoShape">
              <a:avLst/>
            </a:prstTxWarp>
          </a:bodyPr>
          <a:lstStyle/>
          <a:p>
            <a:pPr marL="0" marR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en-US" altLang="ko-KR" sz="1800" b="0" i="0" u="none" strike="noStrike" cap="none" normalizeH="0" baseline="0">
                <a:solidFill>
                  <a:schemeClr val="tx1"/>
                </a:solidFill>
                <a:effectLst/>
                <a:latin typeface="KoPub돋움체 Bold"/>
                <a:ea typeface="KoPub돋움체 Bold"/>
              </a:rPr>
              <a:t>AI</a:t>
            </a:r>
            <a:br>
              <a:rPr kumimoji="1" lang="en-US" altLang="ko-KR" sz="1800" b="0" i="0" u="none" strike="noStrike" cap="none" normalizeH="0" baseline="0">
                <a:solidFill>
                  <a:schemeClr val="tx1"/>
                </a:solidFill>
                <a:effectLst/>
                <a:latin typeface="KoPub돋움체 Bold"/>
                <a:ea typeface="KoPub돋움체 Bold"/>
              </a:rPr>
            </a:br>
            <a:r>
              <a:rPr kumimoji="1" lang="en-US" altLang="ko-KR" sz="1800" b="0" i="0" u="none" strike="noStrike" cap="none" normalizeH="0" baseline="0">
                <a:solidFill>
                  <a:schemeClr val="tx1"/>
                </a:solidFill>
                <a:effectLst/>
                <a:latin typeface="KoPub돋움체 Bold"/>
                <a:ea typeface="KoPub돋움체 Bold"/>
              </a:rPr>
              <a:t>Project</a:t>
            </a:r>
            <a:endParaRPr kumimoji="1" lang="ko-KR" altLang="en-US" sz="1800" b="0" i="0" u="none" strike="noStrike" cap="none" normalizeH="0" baseline="0">
              <a:solidFill>
                <a:schemeClr val="tx1"/>
              </a:solidFill>
              <a:effectLst/>
              <a:latin typeface="KoPub돋움체 Bold"/>
              <a:ea typeface="KoPub돋움체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/>
          <p:cNvSpPr txBox="1">
            <a:spLocks noChangeArrowheads="1"/>
          </p:cNvSpPr>
          <p:nvPr/>
        </p:nvSpPr>
        <p:spPr>
          <a:xfrm>
            <a:off x="272480" y="180132"/>
            <a:ext cx="1857310" cy="38946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2000">
                <a:latin typeface="나눔고딕 ExtraBold"/>
                <a:ea typeface="나눔고딕 ExtraBold"/>
              </a:rPr>
              <a:t>1. </a:t>
            </a:r>
            <a:r>
              <a:rPr lang="ko-KR" altLang="en-US" sz="2000">
                <a:latin typeface="나눔고딕 ExtraBold"/>
                <a:ea typeface="나눔고딕 ExtraBold"/>
              </a:rPr>
              <a:t>개요 및 현황</a:t>
            </a:r>
          </a:p>
        </p:txBody>
      </p:sp>
      <p:graphicFrame>
        <p:nvGraphicFramePr>
          <p:cNvPr id="17" name="표 16"/>
          <p:cNvGraphicFramePr>
            <a:graphicFrameLocks noGrp="1"/>
          </p:cNvGraphicFramePr>
          <p:nvPr/>
        </p:nvGraphicFramePr>
        <p:xfrm>
          <a:off x="456000" y="908720"/>
          <a:ext cx="9027579" cy="5227719"/>
        </p:xfrm>
        <a:graphic>
          <a:graphicData uri="http://schemas.openxmlformats.org/drawingml/2006/table">
            <a:tbl>
              <a:tblPr/>
              <a:tblGrid>
                <a:gridCol w="1719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08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8827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ko-KR" altLang="en-US" sz="1400" b="0" i="0" u="none" strike="noStrike" cap="none" normalizeH="0" baseline="0">
                          <a:solidFill>
                            <a:schemeClr val="bg1"/>
                          </a:solidFill>
                          <a:effectLst/>
                          <a:latin typeface="KoPub돋움체 Bold"/>
                          <a:ea typeface="KoPub돋움체 Bold"/>
                        </a:rPr>
                        <a:t>사업과제</a:t>
                      </a:r>
                      <a:endParaRPr kumimoji="1" lang="ko-KR" altLang="en-US" sz="1400" b="1" i="0" u="none" strike="noStrike" cap="none" normalizeH="0" baseline="0">
                        <a:solidFill>
                          <a:srgbClr val="FFFF00"/>
                        </a:solidFill>
                        <a:effectLst/>
                        <a:latin typeface="KoPub돋움체 Bold"/>
                        <a:ea typeface="KoPub돋움체 Bold"/>
                      </a:endParaRPr>
                    </a:p>
                  </a:txBody>
                  <a:tcPr marL="90007" marR="90007" marT="49551" marB="49551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C9D1DC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HY견고딕"/>
                          <a:ea typeface="HY견고딕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3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KoPub돋움체 Bold"/>
                          <a:ea typeface="KoPub돋움체 Bold"/>
                        </a:rPr>
                        <a:t>AI</a:t>
                      </a:r>
                      <a:r>
                        <a:rPr kumimoji="1" lang="ko-KR" altLang="en-US" sz="13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KoPub돋움체 Bold"/>
                          <a:ea typeface="KoPub돋움체 Bold"/>
                        </a:rPr>
                        <a:t>기반 해수면 상승 예측모델 개발 및 시각화</a:t>
                      </a:r>
                    </a:p>
                  </a:txBody>
                  <a:tcPr marL="90007" marR="90007" marT="49551" marB="49551" anchor="ctr" horzOverflow="overflow">
                    <a:lnL w="6350" cap="flat" cmpd="sng" algn="ctr">
                      <a:solidFill>
                        <a:srgbClr val="C9D1DC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8892">
                <a:tc grid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Tx/>
                        <a:buNone/>
                        <a:defRPr/>
                      </a:pPr>
                      <a:endParaRPr kumimoji="1" lang="en-US" altLang="ko-KR" sz="1100" b="0" i="0" u="none" strike="noStrike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KoPub돋움체 Bold"/>
                        <a:ea typeface="KoPub돋움체 Bold"/>
                      </a:endParaRP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Tx/>
                        <a:buNone/>
                        <a:defRPr/>
                      </a:pPr>
                      <a:endParaRPr kumimoji="1" lang="en-US" altLang="ko-KR" sz="1100" b="0" i="0" u="none" strike="noStrike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KoPub돋움체 Bold"/>
                        <a:ea typeface="KoPub돋움체 Bold"/>
                      </a:endParaRP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Tx/>
                        <a:buNone/>
                        <a:defRPr/>
                      </a:pPr>
                      <a:endParaRPr kumimoji="1" lang="ko-KR" altLang="en-US" sz="1100" b="0" i="0" u="none" strike="noStrike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KoPub돋움체 Bold"/>
                        <a:ea typeface="KoPub돋움체 Bold"/>
                      </a:endParaRPr>
                    </a:p>
                  </a:txBody>
                  <a:tcPr marL="90007" marR="90007" marT="49551" marB="49551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FontTx/>
                        <a:buNone/>
                        <a:defRPr/>
                      </a:pPr>
                      <a:endParaRPr kumimoji="1" lang="ko-KR" altLang="en-US" sz="1050" b="0" i="0" u="none" strike="noStrike" kern="1200" cap="none" spc="-50" normalizeH="0" baseline="0">
                        <a:solidFill>
                          <a:srgbClr val="525F6F"/>
                        </a:solidFill>
                        <a:effectLst/>
                        <a:latin typeface="KoPub돋움체 Medium"/>
                        <a:ea typeface="KoPub돋움체 Medium"/>
                        <a:cs typeface="+mn-cs"/>
                      </a:endParaRPr>
                    </a:p>
                  </a:txBody>
                  <a:tcPr marL="90007" marR="90007" marT="49551" marB="49551" horzOverflow="overflow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</a:lnL>
                    <a:lnR w="38100" cap="flat" cmpd="sng" algn="ctr">
                      <a:noFill/>
                      <a:prstDash val="solid"/>
                      <a:round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Rectangle 97"/>
          <p:cNvSpPr>
            <a:spLocks noChangeArrowheads="1"/>
          </p:cNvSpPr>
          <p:nvPr/>
        </p:nvSpPr>
        <p:spPr>
          <a:xfrm rot="16200000">
            <a:off x="3700072" y="266138"/>
            <a:ext cx="4158096" cy="7208185"/>
          </a:xfrm>
          <a:prstGeom prst="roundRect">
            <a:avLst>
              <a:gd name="adj" fmla="val 2892"/>
            </a:avLst>
          </a:prstGeom>
          <a:solidFill>
            <a:schemeClr val="bg1">
              <a:lumMod val="95000"/>
            </a:schemeClr>
          </a:solidFill>
          <a:ln w="19050" algn="ctr">
            <a:noFill/>
            <a:miter/>
          </a:ln>
          <a:effectLst/>
        </p:spPr>
        <p:txBody>
          <a:bodyPr vert="eaVert" lIns="72000" tIns="108000" rIns="72000" bIns="108000" anchor="ctr"/>
          <a:lstStyle/>
          <a:p>
            <a:pPr marL="180975" indent="-180975" algn="l" defTabSz="936625" latinLnBrk="0">
              <a:lnSpc>
                <a:spcPct val="150000"/>
              </a:lnSpc>
              <a:spcBef>
                <a:spcPts val="1200"/>
              </a:spcBef>
              <a:buSzPct val="60000"/>
              <a:buFont typeface="Arial"/>
              <a:buChar char="•"/>
              <a:defRPr/>
            </a:pP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/>
                <a:ea typeface="KoPub돋움체 Bold"/>
              </a:rPr>
              <a:t>추진배경은 최근 지구온난화와 관련된 문제는 전 세계적으로 주요한 환경적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/>
                <a:ea typeface="KoPub돋움체 Bold"/>
              </a:rPr>
              <a:t>,</a:t>
            </a: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/>
                <a:ea typeface="KoPub돋움체 Bold"/>
              </a:rPr>
              <a:t> 경제적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/>
                <a:ea typeface="KoPub돋움체 Bold"/>
              </a:rPr>
              <a:t>,</a:t>
            </a: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/>
                <a:ea typeface="KoPub돋움체 Bold"/>
              </a:rPr>
              <a:t> 사회적 도전 과제라고 생각했습니다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/>
                <a:ea typeface="KoPub돋움체 Bold"/>
              </a:rPr>
              <a:t>.</a:t>
            </a:r>
          </a:p>
          <a:p>
            <a:pPr marL="180975" indent="-180975" algn="l" defTabSz="936625" latinLnBrk="0">
              <a:lnSpc>
                <a:spcPct val="150000"/>
              </a:lnSpc>
              <a:spcBef>
                <a:spcPts val="1200"/>
              </a:spcBef>
              <a:buSzPct val="60000"/>
              <a:buFont typeface="Arial"/>
              <a:buChar char="•"/>
              <a:defRPr/>
            </a:pPr>
            <a:r>
              <a:rPr lang="ko-KR" altLang="en-US" sz="1300" dirty="0">
                <a:latin typeface="KoPub돋움체 Bold"/>
                <a:ea typeface="KoPub돋움체 Bold"/>
              </a:rPr>
              <a:t>지구온난화와 해수면 상승의 상관관계 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/>
                <a:ea typeface="KoPub돋움체 Bold"/>
              </a:rPr>
              <a:t>: </a:t>
            </a: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/>
                <a:ea typeface="KoPub돋움체 Bold"/>
              </a:rPr>
              <a:t>이번 프로젝트를 통해 지구온난화와 해수면 상승의 상관관계를 더 깊이 이해할 수 있었습니다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/>
                <a:ea typeface="KoPub돋움체 Bold"/>
              </a:rPr>
              <a:t>. </a:t>
            </a: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/>
                <a:ea typeface="KoPub돋움체 Bold"/>
              </a:rPr>
              <a:t>데이터를 분석하고 시계열 모델을 구축하면서 환경적 변화의 패턴을 명확히 파악할 수 있었습니다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/>
                <a:ea typeface="KoPub돋움체 Bold"/>
              </a:rPr>
              <a:t>.</a:t>
            </a:r>
            <a:endParaRPr lang="ko-KR" altLang="en-US" sz="1300" dirty="0">
              <a:solidFill>
                <a:schemeClr val="tx1">
                  <a:lumMod val="75000"/>
                  <a:lumOff val="25000"/>
                </a:schemeClr>
              </a:solidFill>
              <a:latin typeface="KoPub돋움체 Bold"/>
              <a:ea typeface="KoPub돋움체 Bold"/>
            </a:endParaRPr>
          </a:p>
          <a:p>
            <a:pPr marL="180975" indent="-180975" algn="l" defTabSz="936625" latinLnBrk="0">
              <a:lnSpc>
                <a:spcPct val="150000"/>
              </a:lnSpc>
              <a:spcBef>
                <a:spcPts val="1200"/>
              </a:spcBef>
              <a:buSzPct val="60000"/>
              <a:buFont typeface="Arial"/>
              <a:buChar char="•"/>
              <a:defRPr/>
            </a:pPr>
            <a:r>
              <a:rPr lang="ko-KR" altLang="en-US" sz="1300" dirty="0">
                <a:latin typeface="KoPub돋움체 Bold"/>
                <a:ea typeface="KoPub돋움체 Bold"/>
              </a:rPr>
              <a:t>데이터 기반 정책 개발의 가능성</a:t>
            </a: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/>
                <a:ea typeface="KoPub돋움체 Bold"/>
              </a:rPr>
              <a:t> 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/>
                <a:ea typeface="KoPub돋움체 Bold"/>
              </a:rPr>
              <a:t>: </a:t>
            </a: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/>
                <a:ea typeface="KoPub돋움체 Bold"/>
              </a:rPr>
              <a:t>예측 모델은 단순히 데이터를 분석하는 것에서 나아가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/>
                <a:ea typeface="KoPub돋움체 Bold"/>
              </a:rPr>
              <a:t>, </a:t>
            </a: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/>
                <a:ea typeface="KoPub돋움체 Bold"/>
              </a:rPr>
              <a:t>데이터 기반 정책 개발과 </a:t>
            </a: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환경 보호 계획 수립에도 기여할 가능성을 보여주었습니다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예를 들어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 모델을 통해 예상되는 해수면 </a:t>
            </a:r>
            <a:r>
              <a:rPr lang="ko-KR" alt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상승량에</a:t>
            </a:r>
            <a:r>
              <a:rPr lang="ko-KR" alt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따라 해안 도시의 방재 대책을 마련할 수 있습니다</a:t>
            </a:r>
            <a:r>
              <a:rPr lang="en-US" altLang="ko-KR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endParaRPr lang="ko-KR" altLang="en-US" sz="1300" dirty="0"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180975" indent="-180975" algn="l" defTabSz="936625" latinLnBrk="0">
              <a:lnSpc>
                <a:spcPct val="150000"/>
              </a:lnSpc>
              <a:spcBef>
                <a:spcPts val="1200"/>
              </a:spcBef>
              <a:buSzPct val="60000"/>
              <a:buFont typeface="Arial"/>
              <a:buChar char="•"/>
              <a:defRPr/>
            </a:pPr>
            <a:r>
              <a:rPr lang="ko-KR" altLang="en-US" sz="1300" b="1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사용자 친화적 기술 구현 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en-US" altLang="ko-KR"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Streamlit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을 활용하여 모델 예측 결과를 실시간으로 확인할 수 있는 대화형 웹 애플리케이션을 제작한 것은 기술적 </a:t>
            </a:r>
            <a:r>
              <a:rPr lang="ko-KR" altLang="en-US"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깊이뿐만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아니라 사용자 경험의 중요성을 다시 한번 깨닫게 해준 계기였습니다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marL="180975" indent="-180975" algn="l" defTabSz="936625" latinLnBrk="0">
              <a:lnSpc>
                <a:spcPct val="120000"/>
              </a:lnSpc>
              <a:spcBef>
                <a:spcPts val="0"/>
              </a:spcBef>
              <a:buSzPct val="60000"/>
              <a:buFont typeface="Arial"/>
              <a:buChar char="•"/>
              <a:defRPr/>
            </a:pPr>
            <a:endParaRPr lang="en-US" altLang="ko-KR" sz="1300" dirty="0">
              <a:solidFill>
                <a:schemeClr val="tx1">
                  <a:lumMod val="75000"/>
                  <a:lumOff val="25000"/>
                </a:schemeClr>
              </a:solidFill>
              <a:latin typeface="KoPub돋움체 Bold"/>
              <a:ea typeface="KoPub돋움체 Bold"/>
            </a:endParaRPr>
          </a:p>
        </p:txBody>
      </p:sp>
      <p:sp>
        <p:nvSpPr>
          <p:cNvPr id="22" name="모서리가 둥근 직사각형 79"/>
          <p:cNvSpPr/>
          <p:nvPr/>
        </p:nvSpPr>
        <p:spPr bwMode="gray">
          <a:xfrm>
            <a:off x="522788" y="1772815"/>
            <a:ext cx="1585451" cy="4158097"/>
          </a:xfrm>
          <a:prstGeom prst="roundRect">
            <a:avLst>
              <a:gd name="adj" fmla="val 2593"/>
            </a:avLst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  <a:miter/>
          </a:ln>
          <a:effectLst/>
        </p:spPr>
        <p:txBody>
          <a:bodyPr wrap="none" lIns="0" tIns="0" rIns="0" bIns="0" anchor="ctr"/>
          <a:lstStyle/>
          <a:p>
            <a:pPr algn="ctr" defTabSz="936625" latinLnBrk="0">
              <a:lnSpc>
                <a:spcPts val="1500"/>
              </a:lnSpc>
              <a:spcBef>
                <a:spcPts val="0"/>
              </a:spcBef>
              <a:buClr>
                <a:schemeClr val="bg2"/>
              </a:buClr>
              <a:buSzPct val="60000"/>
              <a:defRPr/>
            </a:pPr>
            <a:r>
              <a:rPr lang="ko-KR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/>
                <a:ea typeface="KoPub돋움체 Bold"/>
              </a:rPr>
              <a:t>추진배경 및 목적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/>
          <p:cNvSpPr txBox="1">
            <a:spLocks noChangeArrowheads="1"/>
          </p:cNvSpPr>
          <p:nvPr/>
        </p:nvSpPr>
        <p:spPr>
          <a:xfrm>
            <a:off x="272480" y="180132"/>
            <a:ext cx="1542985" cy="38946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2000">
                <a:latin typeface="KoPub돋움체 Bold"/>
                <a:ea typeface="KoPub돋움체 Bold"/>
              </a:rPr>
              <a:t>2. </a:t>
            </a:r>
            <a:r>
              <a:rPr lang="ko-KR" altLang="en-US" sz="2000">
                <a:latin typeface="KoPub돋움체 Bold"/>
                <a:ea typeface="KoPub돋움체 Bold"/>
              </a:rPr>
              <a:t>과제 범위</a:t>
            </a:r>
          </a:p>
        </p:txBody>
      </p:sp>
      <p:graphicFrame>
        <p:nvGraphicFramePr>
          <p:cNvPr id="4" name="object 96"/>
          <p:cNvGraphicFramePr>
            <a:graphicFrameLocks noGrp="1"/>
          </p:cNvGraphicFramePr>
          <p:nvPr/>
        </p:nvGraphicFramePr>
        <p:xfrm>
          <a:off x="515144" y="1133211"/>
          <a:ext cx="8830344" cy="47052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2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087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300">
                          <a:latin typeface="KoPub돋움체 Bold"/>
                          <a:ea typeface="KoPub돋움체 Bold"/>
                          <a:cs typeface="Times New Roman"/>
                        </a:rPr>
                        <a:t>과제구분</a:t>
                      </a:r>
                      <a:endParaRPr sz="1300">
                        <a:latin typeface="KoPub돋움체 Bold"/>
                        <a:ea typeface="KoPub돋움체 Bold"/>
                        <a:cs typeface="Times New Roman"/>
                      </a:endParaRPr>
                    </a:p>
                  </a:txBody>
                  <a:tcPr marL="36000" marR="36000" marT="0" marB="0" anchor="ctr">
                    <a:lnR w="6350">
                      <a:solidFill>
                        <a:srgbClr val="333E50"/>
                      </a:solidFill>
                      <a:prstDash val="solid"/>
                    </a:lnR>
                    <a:lnT w="19050">
                      <a:solidFill>
                        <a:srgbClr val="0086C9"/>
                      </a:solidFill>
                      <a:prstDash val="solid"/>
                    </a:lnT>
                    <a:lnB w="6350">
                      <a:solidFill>
                        <a:srgbClr val="333E50"/>
                      </a:solidFill>
                      <a:prstDash val="solid"/>
                    </a:lnB>
                    <a:solidFill>
                      <a:srgbClr val="D9EB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endParaRPr sz="1300">
                        <a:latin typeface="KoPub돋움체 Bold"/>
                        <a:ea typeface="KoPub돋움체 Bold"/>
                        <a:cs typeface="Times New Roman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33E50"/>
                      </a:solidFill>
                      <a:prstDash val="solid"/>
                      <a:round/>
                    </a:lnL>
                    <a:lnR w="6350">
                      <a:solidFill>
                        <a:srgbClr val="333E50"/>
                      </a:solidFill>
                      <a:prstDash val="solid"/>
                    </a:lnR>
                    <a:lnT w="19050">
                      <a:solidFill>
                        <a:srgbClr val="0086C9"/>
                      </a:solidFill>
                      <a:prstDash val="solid"/>
                    </a:lnT>
                    <a:lnB w="6350" cap="flat" cmpd="sng" algn="ctr">
                      <a:solidFill>
                        <a:srgbClr val="333E50"/>
                      </a:solidFill>
                      <a:prstDash val="solid"/>
                      <a:round/>
                    </a:lnB>
                    <a:solidFill>
                      <a:srgbClr val="D9E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FontTx/>
                        <a:buNone/>
                        <a:defRPr/>
                      </a:pPr>
                      <a:r>
                        <a:rPr lang="ko-KR" altLang="en-US" sz="1300">
                          <a:latin typeface="KoPub돋움체 Bold"/>
                          <a:ea typeface="KoPub돋움체 Bold"/>
                          <a:cs typeface="Times New Roman"/>
                        </a:rPr>
                        <a:t>내용</a:t>
                      </a:r>
                      <a:endParaRPr sz="1300">
                        <a:latin typeface="KoPub돋움체 Bold"/>
                        <a:ea typeface="KoPub돋움체 Bold"/>
                        <a:cs typeface="Times New Roman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33E5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</a:lnR>
                    <a:lnT w="19050">
                      <a:solidFill>
                        <a:srgbClr val="0086C9"/>
                      </a:solidFill>
                      <a:prstDash val="solid"/>
                    </a:lnT>
                    <a:lnB w="6350" cap="flat" cmpd="sng" algn="ctr">
                      <a:solidFill>
                        <a:srgbClr val="333E50"/>
                      </a:solidFill>
                      <a:prstDash val="solid"/>
                      <a:round/>
                    </a:lnB>
                    <a:solidFill>
                      <a:srgbClr val="D9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069">
                <a:tc rowSpan="7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AI</a:t>
                      </a:r>
                      <a:endParaRPr sz="13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36000" marR="36000" marT="0" marB="0" anchor="ctr"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333E5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solidFill>
                      <a:srgbClr val="EAEAEA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300" b="0" i="0" u="none" strike="noStrike" kern="1200" cap="none" spc="0" normalizeH="0" baseline="0"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Times New Roman"/>
                        </a:rPr>
                        <a:t>AI</a:t>
                      </a:r>
                      <a:r>
                        <a:rPr kumimoji="0" lang="ko-KR" altLang="en-US" sz="1300" b="0" i="0" u="none" strike="noStrike" kern="1200" cap="none" spc="0" normalizeH="0" baseline="0"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Times New Roman"/>
                        </a:rPr>
                        <a:t>기반 해수면 상승율 </a:t>
                      </a: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300" b="0" i="0" u="none" strike="noStrike" kern="1200" cap="none" spc="0" normalizeH="0" baseline="0"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/>
                          <a:ea typeface="KoPub돋움체 Medium"/>
                          <a:cs typeface="Times New Roman"/>
                        </a:rPr>
                        <a:t>예측모델 구현</a:t>
                      </a:r>
                      <a:endParaRPr kumimoji="0" lang="ko-KR" altLang="en-US" sz="1300" b="0" i="0" u="none" strike="noStrike" kern="1200" cap="none" spc="0" normalizeH="0" baseline="0">
                        <a:solidFill>
                          <a:srgbClr val="000000"/>
                        </a:solidFill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333E5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  <a:defRPr/>
                      </a:pPr>
                      <a:r>
                        <a:rPr lang="ko-KR" altLang="en-US" sz="1200">
                          <a:latin typeface="KoPub돋움체 Medium"/>
                          <a:ea typeface="KoPub돋움체 Medium"/>
                          <a:cs typeface="Times New Roman"/>
                        </a:rPr>
                        <a:t>원시 데이터 수집 및 데이터셋 구축</a:t>
                      </a:r>
                      <a:endParaRPr sz="12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333E50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69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endParaRPr sz="1200"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36000" marR="36000" marT="0" marB="0" anchor="ctr"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solidFill>
                      <a:srgbClr val="EAEAEA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  <a:defRPr/>
                      </a:pPr>
                      <a:r>
                        <a:rPr lang="ko-KR" altLang="en-US" sz="1200">
                          <a:latin typeface="KoPub돋움체 Medium"/>
                          <a:ea typeface="KoPub돋움체 Medium"/>
                          <a:cs typeface="Times New Roman"/>
                        </a:rPr>
                        <a:t>데이터 전처리</a:t>
                      </a:r>
                      <a:r>
                        <a:rPr lang="en-US" altLang="ko-KR" sz="1200">
                          <a:latin typeface="KoPub돋움체 Medium"/>
                          <a:ea typeface="KoPub돋움체 Medium"/>
                          <a:cs typeface="Times New Roman"/>
                        </a:rPr>
                        <a:t>, </a:t>
                      </a:r>
                      <a:r>
                        <a:rPr lang="ko-KR" altLang="en-US" sz="1200">
                          <a:latin typeface="KoPub돋움체 Medium"/>
                          <a:ea typeface="KoPub돋움체 Medium"/>
                          <a:cs typeface="Times New Roman"/>
                        </a:rPr>
                        <a:t>표준화</a:t>
                      </a:r>
                      <a:r>
                        <a:rPr lang="en-US" altLang="ko-KR" sz="1200">
                          <a:latin typeface="KoPub돋움체 Medium"/>
                          <a:ea typeface="KoPub돋움체 Medium"/>
                          <a:cs typeface="Times New Roman"/>
                        </a:rPr>
                        <a:t>, </a:t>
                      </a:r>
                      <a:r>
                        <a:rPr lang="ko-KR" altLang="en-US" sz="1200">
                          <a:latin typeface="KoPub돋움체 Medium"/>
                          <a:ea typeface="KoPub돋움체 Medium"/>
                          <a:cs typeface="Times New Roman"/>
                        </a:rPr>
                        <a:t>상관관계 분석 </a:t>
                      </a:r>
                      <a:r>
                        <a:rPr lang="en-US" altLang="ko-KR" sz="1200">
                          <a:latin typeface="KoPub돋움체 Medium"/>
                          <a:ea typeface="KoPub돋움체 Medium"/>
                          <a:cs typeface="Times New Roman"/>
                        </a:rPr>
                        <a:t>(EDA</a:t>
                      </a:r>
                      <a:r>
                        <a:rPr lang="ko-KR" altLang="en-US" sz="1200">
                          <a:latin typeface="KoPub돋움체 Medium"/>
                          <a:ea typeface="KoPub돋움체 Medium"/>
                          <a:cs typeface="Times New Roman"/>
                        </a:rPr>
                        <a:t>도구 활용</a:t>
                      </a:r>
                      <a:r>
                        <a:rPr lang="en-US" altLang="ko-KR" sz="1200">
                          <a:latin typeface="KoPub돋움체 Medium"/>
                          <a:ea typeface="KoPub돋움체 Medium"/>
                          <a:cs typeface="Times New Roman"/>
                        </a:rPr>
                        <a:t>)</a:t>
                      </a:r>
                      <a:endParaRPr sz="12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069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endParaRPr sz="1200"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36000" marR="36000" marT="0" marB="0" anchor="ctr"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solidFill>
                      <a:srgbClr val="EAEAEA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  <a:defRPr/>
                      </a:pP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예측모델 선정 및 학습</a:t>
                      </a:r>
                      <a:endParaRPr sz="13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069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endParaRPr sz="1200"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36000" marR="36000" marT="0" marB="0" anchor="ctr"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solidFill>
                      <a:srgbClr val="EAEAEA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  <a:defRPr/>
                      </a:pPr>
                      <a:r>
                        <a:rPr 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RMSE, MAE </a:t>
                      </a: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등 평가지표를 활용한 모델 성능 평가</a:t>
                      </a:r>
                      <a:endParaRPr sz="13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069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endParaRPr sz="1200"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36000" marR="36000" marT="0" marB="0" anchor="ctr"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solidFill>
                      <a:srgbClr val="EAEAEA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  <a:defRPr/>
                      </a:pP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웹 </a:t>
                      </a:r>
                      <a:r>
                        <a:rPr lang="en-US" altLang="ko-KR" sz="1300">
                          <a:latin typeface="KoPub돋움체 Medium"/>
                          <a:ea typeface="KoPub돋움체 Medium"/>
                          <a:cs typeface="Times New Roman"/>
                        </a:rPr>
                        <a:t>API </a:t>
                      </a: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및 프로토타입 구축</a:t>
                      </a:r>
                      <a:endParaRPr sz="13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069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endParaRPr sz="1200"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36000" marR="36000" marT="0" marB="0" anchor="ctr"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solidFill>
                      <a:srgbClr val="EAEAEA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  <a:defRPr/>
                      </a:pP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예측모델 웹기반 시스템 구축</a:t>
                      </a:r>
                      <a:endParaRPr sz="13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069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endParaRPr sz="13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36000" marR="36000" marT="0" marB="0" anchor="ctr"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solidFill>
                      <a:srgbClr val="EAEAEA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sz="13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  <a:defRPr/>
                      </a:pP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테스트</a:t>
                      </a:r>
                      <a:endParaRPr sz="13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342">
                <a:tc row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시각화</a:t>
                      </a:r>
                      <a:endParaRPr sz="13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36000" marR="36000" marT="0" marB="0" anchor="ctr"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9050">
                      <a:solidFill>
                        <a:srgbClr val="0086C9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실시간 환경계측정보 연계 및 시각화</a:t>
                      </a:r>
                      <a:endParaRPr sz="13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9050">
                      <a:solidFill>
                        <a:srgbClr val="0086C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  <a:defRPr/>
                      </a:pP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환경계측정보 실시간 연계 모형 구현</a:t>
                      </a:r>
                      <a:endParaRPr sz="13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4854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endParaRPr sz="1200"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36000" marR="36000" marT="0" marB="0" anchor="ctr"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solidFill>
                      <a:srgbClr val="EAEAEA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  <a:defRPr/>
                      </a:pP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상황관리 대시보드 등 시각화 구현</a:t>
                      </a:r>
                      <a:br>
                        <a:rPr lang="en-US" altLang="ko-KR" sz="1300">
                          <a:latin typeface="KoPub돋움체 Medium"/>
                          <a:ea typeface="KoPub돋움체 Medium"/>
                          <a:cs typeface="Times New Roman"/>
                        </a:rPr>
                      </a:br>
                      <a:r>
                        <a:rPr lang="en-US" altLang="ko-KR" sz="1300">
                          <a:latin typeface="KoPub돋움체 Medium"/>
                          <a:ea typeface="KoPub돋움체 Medium"/>
                          <a:cs typeface="Times New Roman"/>
                        </a:rPr>
                        <a:t>(BI </a:t>
                      </a: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시각화 도구 활용</a:t>
                      </a:r>
                      <a:r>
                        <a:rPr lang="en-US" altLang="ko-KR" sz="1300">
                          <a:latin typeface="KoPub돋움체 Medium"/>
                          <a:ea typeface="KoPub돋움체 Medium"/>
                          <a:cs typeface="Times New Roman"/>
                        </a:rPr>
                        <a:t>)</a:t>
                      </a:r>
                      <a:endParaRPr sz="13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7069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endParaRPr sz="12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36000" marR="36000" marT="0" marB="0" anchor="ctr"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solidFill>
                      <a:srgbClr val="EAEAEA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endParaRPr sz="12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  <a:defRPr/>
                      </a:pP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예측모델 시각화</a:t>
                      </a:r>
                      <a:endParaRPr sz="13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7069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endParaRPr sz="12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36000" marR="36000" marT="0" marB="0" anchor="ctr"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9050" cap="flat" cmpd="sng" algn="ctr">
                      <a:solidFill>
                        <a:srgbClr val="0086C9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solidFill>
                      <a:srgbClr val="EAEAEA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endParaRPr sz="12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9050" cap="flat" cmpd="sng" algn="ctr">
                      <a:solidFill>
                        <a:srgbClr val="0086C9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  <a:defRPr/>
                      </a:pP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테스트</a:t>
                      </a:r>
                      <a:endParaRPr sz="13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7342"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endParaRPr sz="12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36000" marR="36000" marT="0" marB="0" anchor="ctr"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9050">
                      <a:solidFill>
                        <a:srgbClr val="0086C9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endParaRPr sz="12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9050">
                      <a:solidFill>
                        <a:srgbClr val="0086C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  <a:defRPr/>
                      </a:pP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통합테스트 및 시운전</a:t>
                      </a:r>
                      <a:endParaRPr sz="13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</a:lnT>
                    <a:lnB w="19050">
                      <a:solidFill>
                        <a:srgbClr val="0086C9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/>
          <p:cNvSpPr txBox="1">
            <a:spLocks noChangeArrowheads="1"/>
          </p:cNvSpPr>
          <p:nvPr/>
        </p:nvSpPr>
        <p:spPr>
          <a:xfrm>
            <a:off x="272480" y="180132"/>
            <a:ext cx="4590985" cy="38946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2000">
                <a:latin typeface="KoPub돋움체 Bold"/>
                <a:ea typeface="KoPub돋움체 Bold"/>
              </a:rPr>
              <a:t>3. </a:t>
            </a:r>
            <a:r>
              <a:rPr lang="ko-KR" altLang="en-US" sz="2000">
                <a:latin typeface="KoPub돋움체 Bold"/>
                <a:ea typeface="KoPub돋움체 Bold"/>
              </a:rPr>
              <a:t>과제 추진 방법 </a:t>
            </a:r>
            <a:r>
              <a:rPr lang="en-US" altLang="ko-KR" sz="2000">
                <a:latin typeface="KoPub돋움체 Bold"/>
                <a:ea typeface="KoPub돋움체 Bold"/>
              </a:rPr>
              <a:t>– </a:t>
            </a:r>
            <a:r>
              <a:rPr lang="ko-KR" altLang="en-US" sz="2000">
                <a:latin typeface="KoPub돋움체 Bold"/>
                <a:ea typeface="KoPub돋움체 Bold"/>
              </a:rPr>
              <a:t>구축 대상 선정 기준</a:t>
            </a:r>
          </a:p>
        </p:txBody>
      </p:sp>
      <p:sp>
        <p:nvSpPr>
          <p:cNvPr id="4" name="Rectangle 97"/>
          <p:cNvSpPr>
            <a:spLocks noChangeArrowheads="1"/>
          </p:cNvSpPr>
          <p:nvPr/>
        </p:nvSpPr>
        <p:spPr>
          <a:xfrm rot="16200000">
            <a:off x="4821816" y="-2000602"/>
            <a:ext cx="1552140" cy="7370784"/>
          </a:xfrm>
          <a:prstGeom prst="roundRect">
            <a:avLst>
              <a:gd name="adj" fmla="val 6535"/>
            </a:avLst>
          </a:prstGeom>
          <a:solidFill>
            <a:sysClr val="window" lastClr="FFFFFF">
              <a:lumMod val="95000"/>
            </a:sysClr>
          </a:solidFill>
          <a:ln w="19050" algn="ctr">
            <a:noFill/>
            <a:miter/>
          </a:ln>
          <a:effectLst/>
        </p:spPr>
        <p:txBody>
          <a:bodyPr vert="eaVert" lIns="72000" tIns="179999" rIns="72000" bIns="108000" anchor="ctr"/>
          <a:lstStyle/>
          <a:p>
            <a:pPr marL="177800" marR="0" lvl="0" indent="-177800" algn="l" defTabSz="936625" eaLnBrk="1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Pct val="60000"/>
              <a:buFont typeface="Arial"/>
              <a:buChar char="•"/>
              <a:defRPr/>
            </a:pPr>
            <a:r>
              <a:rPr lang="ko-KR" altLang="en-US" sz="13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Medium"/>
                <a:ea typeface="KoPub돋움체 Medium"/>
              </a:rPr>
              <a:t>데이터 수집 및 관리의 용이성</a:t>
            </a:r>
          </a:p>
          <a:p>
            <a:pPr marL="177800" marR="0" lvl="0" indent="-177800" algn="l" defTabSz="936625" eaLnBrk="1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Pct val="60000"/>
              <a:buFont typeface="Arial"/>
              <a:buChar char="•"/>
              <a:defRPr/>
            </a:pPr>
            <a:r>
              <a:rPr kumimoji="1" lang="ko-KR" altLang="en-US" sz="1300" ker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/>
                <a:ea typeface="KoPub돋움체 Medium"/>
              </a:rPr>
              <a:t>정부 및 공공기관에서 이미 구축된 데이터베이스 활용 여부</a:t>
            </a:r>
          </a:p>
          <a:p>
            <a:pPr marL="177800" marR="0" lvl="0" indent="-177800" algn="l" defTabSz="936625" eaLnBrk="1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Pct val="60000"/>
              <a:buFont typeface="Arial"/>
              <a:buChar char="•"/>
              <a:defRPr/>
            </a:pPr>
            <a:r>
              <a:rPr lang="ko-KR" altLang="en-US" sz="13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Medium"/>
                <a:ea typeface="KoPub돋움체 Medium"/>
              </a:rPr>
              <a:t>종속변수에 영향을 미치는 다양한 독립변수에 대한 정보 포함여부를 통한 모델학습의 유용성</a:t>
            </a:r>
            <a:endParaRPr kumimoji="1" lang="en-US" altLang="ko-KR" sz="1300" b="0" i="0" u="none" strike="noStrike" kern="0" cap="none" spc="0" normalizeH="0" baseline="0">
              <a:solidFill>
                <a:srgbClr val="C00000"/>
              </a:solidFill>
              <a:effectLst/>
              <a:uLnTx/>
              <a:uFillTx/>
              <a:latin typeface="KoPub돋움체 Medium"/>
              <a:ea typeface="KoPub돋움체 Medium"/>
            </a:endParaRPr>
          </a:p>
        </p:txBody>
      </p:sp>
      <p:sp>
        <p:nvSpPr>
          <p:cNvPr id="5" name="모서리가 둥근 직사각형 79"/>
          <p:cNvSpPr/>
          <p:nvPr/>
        </p:nvSpPr>
        <p:spPr bwMode="gray">
          <a:xfrm>
            <a:off x="606314" y="908721"/>
            <a:ext cx="1306178" cy="1588064"/>
          </a:xfrm>
          <a:prstGeom prst="roundRect">
            <a:avLst>
              <a:gd name="adj" fmla="val 7287"/>
            </a:avLst>
          </a:prstGeom>
          <a:solidFill>
            <a:sysClr val="window" lastClr="FFFFFF"/>
          </a:solidFill>
          <a:ln w="38100">
            <a:solidFill>
              <a:sysClr val="window" lastClr="FFFFFF">
                <a:lumMod val="50000"/>
              </a:sysClr>
            </a:solidFill>
            <a:miter/>
          </a:ln>
          <a:effectLst/>
        </p:spPr>
        <p:txBody>
          <a:bodyPr wrap="none" lIns="0" tIns="0" rIns="0" bIns="0" anchor="ctr"/>
          <a:lstStyle/>
          <a:p>
            <a:pPr marL="0" marR="0" lvl="0" indent="0" algn="ctr" defTabSz="936625" eaLnBrk="1" latinLnBrk="0" hangingPunct="1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>
                <a:srgbClr val="EEECE1"/>
              </a:buClr>
              <a:buSzPct val="60000"/>
              <a:buFontTx/>
              <a:buNone/>
              <a:defRPr/>
            </a:pPr>
            <a:r>
              <a:rPr kumimoji="1" lang="ko-KR" altLang="en-US" sz="1400" b="0" i="0" u="none" strike="noStrike" kern="0" cap="none" spc="0" normalizeH="0" baseline="0"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데이터 접근성</a:t>
            </a:r>
          </a:p>
          <a:p>
            <a:pPr marL="0" marR="0" lvl="0" indent="0" algn="ctr" defTabSz="936625" eaLnBrk="1" latinLnBrk="0" hangingPunct="1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>
                <a:srgbClr val="EEECE1"/>
              </a:buClr>
              <a:buSzPct val="60000"/>
              <a:buFontTx/>
              <a:buNone/>
              <a:defRPr/>
            </a:pPr>
            <a:r>
              <a:rPr lang="ko-KR" altLang="en-US" sz="1400" kern="0">
                <a:solidFill>
                  <a:prstClr val="black">
                    <a:lumMod val="85000"/>
                    <a:lumOff val="15000"/>
                  </a:prstClr>
                </a:solidFill>
                <a:latin typeface="KoPub돋움체 Bold"/>
                <a:ea typeface="KoPub돋움체 Bold"/>
              </a:rPr>
              <a:t>및 활용성</a:t>
            </a:r>
            <a:endParaRPr kumimoji="1" lang="ko-KR" altLang="en-US" sz="1400" b="0" i="0" u="none" strike="noStrike" kern="0" cap="none" spc="0" normalizeH="0" baseline="0"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KoPub돋움체 Bold"/>
              <a:ea typeface="KoPub돋움체 Bold"/>
            </a:endParaRPr>
          </a:p>
        </p:txBody>
      </p:sp>
      <p:sp>
        <p:nvSpPr>
          <p:cNvPr id="10" name="Rectangle 97"/>
          <p:cNvSpPr>
            <a:spLocks noChangeArrowheads="1"/>
          </p:cNvSpPr>
          <p:nvPr/>
        </p:nvSpPr>
        <p:spPr>
          <a:xfrm rot="16200000">
            <a:off x="4838225" y="-211768"/>
            <a:ext cx="1552140" cy="7370784"/>
          </a:xfrm>
          <a:prstGeom prst="roundRect">
            <a:avLst>
              <a:gd name="adj" fmla="val 6535"/>
            </a:avLst>
          </a:prstGeom>
          <a:solidFill>
            <a:sysClr val="window" lastClr="FFFFFF">
              <a:lumMod val="95000"/>
            </a:sysClr>
          </a:solidFill>
          <a:ln w="19050" algn="ctr">
            <a:noFill/>
            <a:miter/>
          </a:ln>
          <a:effectLst/>
        </p:spPr>
        <p:txBody>
          <a:bodyPr vert="eaVert" lIns="72000" tIns="179999" rIns="72000" bIns="108000" anchor="ctr"/>
          <a:lstStyle/>
          <a:p>
            <a:pPr marL="177800" marR="0" lvl="0" indent="-177800" algn="l" defTabSz="936625" eaLnBrk="1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Pct val="60000"/>
              <a:buFont typeface="Arial"/>
              <a:buChar char="•"/>
              <a:defRPr/>
            </a:pPr>
            <a:r>
              <a:rPr kumimoji="1" lang="ko-KR" altLang="en-US" sz="1300" ker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/>
                <a:ea typeface="KoPub돋움체 Medium"/>
              </a:rPr>
              <a:t>모델 학습 및 평가 과정 간소화를 위한 다른 환경 기초데이터에 비해 변수가 상대적으로 단순한 구조 여부</a:t>
            </a:r>
          </a:p>
          <a:p>
            <a:pPr marL="177800" marR="0" lvl="0" indent="-177800" algn="l" defTabSz="936625" eaLnBrk="1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Pct val="60000"/>
              <a:buFont typeface="Arial"/>
              <a:buChar char="•"/>
              <a:defRPr/>
            </a:pPr>
            <a:r>
              <a:rPr lang="ko-KR" altLang="en-US" sz="13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Medium"/>
                <a:ea typeface="KoPub돋움체 Medium"/>
              </a:rPr>
              <a:t>개발된 모델을 통해 다른 환경기초 데이터에 적용가능 여부</a:t>
            </a:r>
            <a:r>
              <a:rPr kumimoji="1" lang="en-US" altLang="ko-KR" sz="1300" b="0" i="0" u="none" strike="noStrike" kern="0" cap="none" spc="0" normalizeH="0" baseline="0">
                <a:solidFill>
                  <a:srgbClr val="C00000"/>
                </a:solidFill>
                <a:effectLst/>
                <a:uLnTx/>
                <a:uFillTx/>
                <a:latin typeface="KoPub돋움체 Medium"/>
                <a:ea typeface="KoPub돋움체 Medium"/>
              </a:rPr>
              <a:t> </a:t>
            </a:r>
          </a:p>
        </p:txBody>
      </p:sp>
      <p:sp>
        <p:nvSpPr>
          <p:cNvPr id="11" name="모서리가 둥근 직사각형 79"/>
          <p:cNvSpPr/>
          <p:nvPr/>
        </p:nvSpPr>
        <p:spPr bwMode="gray">
          <a:xfrm>
            <a:off x="622723" y="2697555"/>
            <a:ext cx="1306178" cy="1588064"/>
          </a:xfrm>
          <a:prstGeom prst="roundRect">
            <a:avLst>
              <a:gd name="adj" fmla="val 7287"/>
            </a:avLst>
          </a:prstGeom>
          <a:solidFill>
            <a:sysClr val="window" lastClr="FFFFFF"/>
          </a:solidFill>
          <a:ln w="38100">
            <a:solidFill>
              <a:sysClr val="window" lastClr="FFFFFF">
                <a:lumMod val="50000"/>
              </a:sysClr>
            </a:solidFill>
            <a:miter/>
          </a:ln>
          <a:effectLst/>
        </p:spPr>
        <p:txBody>
          <a:bodyPr wrap="none" lIns="0" tIns="0" rIns="0" bIns="0" anchor="ctr"/>
          <a:lstStyle/>
          <a:p>
            <a:pPr marL="0" marR="0" lvl="0" indent="0" algn="ctr" defTabSz="936625" eaLnBrk="1" latinLnBrk="0" hangingPunct="1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>
                <a:srgbClr val="EEECE1"/>
              </a:buClr>
              <a:buSzPct val="60000"/>
              <a:buFontTx/>
              <a:buNone/>
              <a:defRPr/>
            </a:pPr>
            <a:r>
              <a:rPr kumimoji="1" lang="ko-KR" altLang="en-US" sz="1400" b="0" i="0" u="none" strike="noStrike" kern="0" cap="none" spc="0" normalizeH="0" baseline="0"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예측모델 </a:t>
            </a:r>
            <a:br>
              <a:rPr kumimoji="1" lang="en-US" altLang="ko-KR" sz="1400" b="0" i="0" u="none" strike="noStrike" kern="0" cap="none" spc="0" normalizeH="0" baseline="0"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</a:br>
            <a:r>
              <a:rPr kumimoji="1" lang="ko-KR" altLang="en-US" sz="1400" b="0" i="0" u="none" strike="noStrike" kern="0" cap="none" spc="0" normalizeH="0" baseline="0"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개발 효율성</a:t>
            </a:r>
          </a:p>
        </p:txBody>
      </p:sp>
      <p:sp>
        <p:nvSpPr>
          <p:cNvPr id="13" name="Rectangle 97"/>
          <p:cNvSpPr>
            <a:spLocks noChangeArrowheads="1"/>
          </p:cNvSpPr>
          <p:nvPr/>
        </p:nvSpPr>
        <p:spPr>
          <a:xfrm rot="16200000">
            <a:off x="4821814" y="1577065"/>
            <a:ext cx="1552140" cy="7370784"/>
          </a:xfrm>
          <a:prstGeom prst="roundRect">
            <a:avLst>
              <a:gd name="adj" fmla="val 6535"/>
            </a:avLst>
          </a:prstGeom>
          <a:solidFill>
            <a:sysClr val="window" lastClr="FFFFFF">
              <a:lumMod val="95000"/>
            </a:sysClr>
          </a:solidFill>
          <a:ln w="19050" algn="ctr">
            <a:noFill/>
            <a:miter/>
          </a:ln>
          <a:effectLst/>
        </p:spPr>
        <p:txBody>
          <a:bodyPr vert="eaVert" lIns="72000" tIns="179999" rIns="72000" bIns="108000" anchor="ctr"/>
          <a:lstStyle/>
          <a:p>
            <a:pPr marL="177800" marR="0" lvl="0" indent="-177800" algn="l" defTabSz="936625" eaLnBrk="1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Pct val="60000"/>
              <a:buFont typeface="Arial"/>
              <a:buChar char="•"/>
              <a:defRPr/>
            </a:pPr>
            <a:r>
              <a:rPr lang="ko-KR" altLang="en-US" sz="13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Medium"/>
                <a:ea typeface="KoPub돋움체 Medium"/>
              </a:rPr>
              <a:t>기후 변화 대응</a:t>
            </a:r>
            <a:r>
              <a:rPr lang="en-US" altLang="ko-KR" sz="13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Medium"/>
                <a:ea typeface="KoPub돋움체 Medium"/>
              </a:rPr>
              <a:t>(</a:t>
            </a:r>
            <a:r>
              <a:rPr lang="ko-KR" altLang="en-US" sz="13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Medium"/>
                <a:ea typeface="KoPub돋움체 Medium"/>
              </a:rPr>
              <a:t>해수면 상승률을 예측하여 저지대 및 연안 지역의 위험을 사전 경고</a:t>
            </a:r>
            <a:r>
              <a:rPr lang="en-US" altLang="ko-KR" sz="13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Medium"/>
                <a:ea typeface="KoPub돋움체 Medium"/>
              </a:rPr>
              <a:t>)</a:t>
            </a:r>
          </a:p>
          <a:p>
            <a:pPr marL="177800" marR="0" lvl="0" indent="-177800" algn="l" defTabSz="936625" eaLnBrk="1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Pct val="60000"/>
              <a:buFont typeface="Arial"/>
              <a:buChar char="•"/>
              <a:defRPr/>
            </a:pPr>
            <a:r>
              <a:rPr kumimoji="1" lang="ko-KR" altLang="en-US" sz="13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Medium"/>
                <a:ea typeface="KoPub돋움체 Medium"/>
              </a:rPr>
              <a:t>재난 방지 및 도시 계획</a:t>
            </a:r>
            <a:r>
              <a:rPr kumimoji="1" lang="en-US" altLang="ko-KR" sz="1300" b="0" i="0" u="none" strike="noStrike" kern="0" cap="none" spc="0" normalizeH="0" baseline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Medium"/>
                <a:ea typeface="KoPub돋움체 Medium"/>
              </a:rPr>
              <a:t>(침수 위험이 높은 지역을 식별하여 인프라 및 방재 계획 수립에 활용)</a:t>
            </a:r>
          </a:p>
          <a:p>
            <a:pPr marL="177800" marR="0" lvl="0" indent="-177800" algn="l" defTabSz="936625" eaLnBrk="1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Pct val="60000"/>
              <a:buFont typeface="Arial"/>
              <a:buChar char="•"/>
              <a:defRPr/>
            </a:pPr>
            <a:r>
              <a:rPr lang="ko-KR" altLang="en-US" sz="1300" ker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/>
                <a:ea typeface="KoPub돋움체 Medium"/>
              </a:rPr>
              <a:t>보험 및 금융 산업</a:t>
            </a:r>
            <a:r>
              <a:rPr lang="en-US" altLang="ko-KR" sz="1300" ker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/>
                <a:ea typeface="KoPub돋움체 Medium"/>
              </a:rPr>
              <a:t>(해수면 상승에 따른 부동산 및 보험 리스크를 평가하여 금융 안정성 확보)</a:t>
            </a:r>
          </a:p>
          <a:p>
            <a:pPr marL="177800" marR="0" lvl="0" indent="-177800" algn="l" defTabSz="936625" eaLnBrk="1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Pct val="60000"/>
              <a:buFont typeface="Arial"/>
              <a:buChar char="•"/>
              <a:defRPr/>
            </a:pPr>
            <a:r>
              <a:rPr lang="en-US" altLang="ko-KR" sz="1300" kern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/>
                <a:ea typeface="KoPub돋움체 Medium"/>
              </a:rPr>
              <a:t>에너지 및 산업 분야(해안 인프라(항구, 발전소 등)의 설계를 최적화하여 경제적 손실 방지)</a:t>
            </a:r>
          </a:p>
        </p:txBody>
      </p:sp>
      <p:sp>
        <p:nvSpPr>
          <p:cNvPr id="14" name="모서리가 둥근 직사각형 79"/>
          <p:cNvSpPr/>
          <p:nvPr/>
        </p:nvSpPr>
        <p:spPr bwMode="gray">
          <a:xfrm>
            <a:off x="606312" y="4486388"/>
            <a:ext cx="1306178" cy="1588064"/>
          </a:xfrm>
          <a:prstGeom prst="roundRect">
            <a:avLst>
              <a:gd name="adj" fmla="val 7287"/>
            </a:avLst>
          </a:prstGeom>
          <a:solidFill>
            <a:sysClr val="window" lastClr="FFFFFF"/>
          </a:solidFill>
          <a:ln w="38100">
            <a:solidFill>
              <a:sysClr val="window" lastClr="FFFFFF">
                <a:lumMod val="50000"/>
              </a:sysClr>
            </a:solidFill>
            <a:miter/>
          </a:ln>
          <a:effectLst/>
        </p:spPr>
        <p:txBody>
          <a:bodyPr wrap="none" lIns="0" tIns="0" rIns="0" bIns="0" anchor="ctr"/>
          <a:lstStyle/>
          <a:p>
            <a:pPr marL="0" marR="0" lvl="0" indent="0" algn="ctr" defTabSz="936625" eaLnBrk="1" latinLnBrk="0" hangingPunct="1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>
                <a:srgbClr val="EEECE1"/>
              </a:buClr>
              <a:buSzPct val="60000"/>
              <a:buFontTx/>
              <a:buNone/>
              <a:defRPr/>
            </a:pPr>
            <a:r>
              <a:rPr kumimoji="1" lang="ko-KR" altLang="en-US" sz="1400" b="0" i="0" u="none" strike="noStrike" kern="0" cap="none" spc="0" normalizeH="0" baseline="0"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문제 해결</a:t>
            </a:r>
          </a:p>
          <a:p>
            <a:pPr marL="0" marR="0" lvl="0" indent="0" algn="ctr" defTabSz="936625" eaLnBrk="1" latinLnBrk="0" hangingPunct="1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>
                <a:srgbClr val="EEECE1"/>
              </a:buClr>
              <a:buSzPct val="60000"/>
              <a:buFontTx/>
              <a:buNone/>
              <a:defRPr/>
            </a:pPr>
            <a:r>
              <a:rPr lang="ko-KR" altLang="en-US" sz="1400" kern="0">
                <a:solidFill>
                  <a:prstClr val="black">
                    <a:lumMod val="85000"/>
                    <a:lumOff val="15000"/>
                  </a:prstClr>
                </a:solidFill>
                <a:latin typeface="KoPub돋움체 Bold"/>
                <a:ea typeface="KoPub돋움체 Bold"/>
              </a:rPr>
              <a:t>기여도 및</a:t>
            </a:r>
          </a:p>
          <a:p>
            <a:pPr marL="0" marR="0" lvl="0" indent="0" algn="ctr" defTabSz="936625" eaLnBrk="1" latinLnBrk="0" hangingPunct="1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buClr>
                <a:srgbClr val="EEECE1"/>
              </a:buClr>
              <a:buSzPct val="60000"/>
              <a:buFontTx/>
              <a:buNone/>
              <a:defRPr/>
            </a:pPr>
            <a:r>
              <a:rPr kumimoji="1" lang="ko-KR" altLang="en-US" sz="1400" b="0" i="0" u="none" strike="noStrike" kern="0" cap="none" spc="0" normalizeH="0" baseline="0"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/>
                <a:ea typeface="KoPub돋움체 Bold"/>
              </a:rPr>
              <a:t>경제성</a:t>
            </a:r>
          </a:p>
        </p:txBody>
      </p:sp>
      <p:sp>
        <p:nvSpPr>
          <p:cNvPr id="6" name="타원 5"/>
          <p:cNvSpPr/>
          <p:nvPr/>
        </p:nvSpPr>
        <p:spPr bwMode="gray">
          <a:xfrm>
            <a:off x="1784648" y="1525871"/>
            <a:ext cx="227637" cy="223592"/>
          </a:xfrm>
          <a:prstGeom prst="ellipse">
            <a:avLst/>
          </a:prstGeom>
          <a:solidFill>
            <a:srgbClr val="6494C8"/>
          </a:solidFill>
          <a:ln w="57150">
            <a:solidFill>
              <a:sysClr val="window" lastClr="FFFFFF"/>
            </a:solidFill>
            <a:miter/>
          </a:ln>
          <a:effectLst/>
        </p:spPr>
        <p:txBody>
          <a:bodyPr wrap="none" lIns="0" tIns="0" rIns="0" bIns="0" anchor="ctr"/>
          <a:lstStyle/>
          <a:p>
            <a:pPr marL="0" marR="0" lvl="0" indent="0" algn="r" defTabSz="91440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400" b="0" i="0" u="none" strike="noStrike" kern="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KoPub돋움체 Bold"/>
              <a:ea typeface="KoPub돋움체 Bold"/>
            </a:endParaRPr>
          </a:p>
        </p:txBody>
      </p:sp>
      <p:sp>
        <p:nvSpPr>
          <p:cNvPr id="12" name="타원 11"/>
          <p:cNvSpPr/>
          <p:nvPr/>
        </p:nvSpPr>
        <p:spPr bwMode="gray">
          <a:xfrm>
            <a:off x="1799242" y="3314704"/>
            <a:ext cx="227637" cy="223592"/>
          </a:xfrm>
          <a:prstGeom prst="ellipse">
            <a:avLst/>
          </a:prstGeom>
          <a:solidFill>
            <a:srgbClr val="6494C8"/>
          </a:solidFill>
          <a:ln w="57150">
            <a:solidFill>
              <a:sysClr val="window" lastClr="FFFFFF"/>
            </a:solidFill>
            <a:miter/>
          </a:ln>
          <a:effectLst/>
        </p:spPr>
        <p:txBody>
          <a:bodyPr wrap="none" lIns="0" tIns="0" rIns="0" bIns="0" anchor="ctr"/>
          <a:lstStyle/>
          <a:p>
            <a:pPr marL="0" marR="0" lvl="0" indent="0" algn="r" defTabSz="91440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400" b="0" i="0" u="none" strike="noStrike" kern="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KoPub돋움체 Bold"/>
              <a:ea typeface="KoPub돋움체 Bold"/>
            </a:endParaRPr>
          </a:p>
        </p:txBody>
      </p:sp>
      <p:sp>
        <p:nvSpPr>
          <p:cNvPr id="15" name="타원 14"/>
          <p:cNvSpPr/>
          <p:nvPr/>
        </p:nvSpPr>
        <p:spPr bwMode="gray">
          <a:xfrm>
            <a:off x="1784649" y="5103537"/>
            <a:ext cx="227637" cy="223592"/>
          </a:xfrm>
          <a:prstGeom prst="ellipse">
            <a:avLst/>
          </a:prstGeom>
          <a:solidFill>
            <a:srgbClr val="6494C8"/>
          </a:solidFill>
          <a:ln w="57150">
            <a:solidFill>
              <a:sysClr val="window" lastClr="FFFFFF"/>
            </a:solidFill>
            <a:miter/>
          </a:ln>
          <a:effectLst/>
        </p:spPr>
        <p:txBody>
          <a:bodyPr wrap="none" lIns="0" tIns="0" rIns="0" bIns="0" anchor="ctr"/>
          <a:lstStyle/>
          <a:p>
            <a:pPr marL="0" marR="0" lvl="0" indent="0" algn="r" defTabSz="91440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400" b="0" i="0" u="none" strike="noStrike" kern="0" cap="none" spc="0" normalizeH="0" baseline="0"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KoPub돋움체 Bold"/>
              <a:ea typeface="KoPub돋움체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/>
          <p:cNvSpPr txBox="1">
            <a:spLocks noChangeArrowheads="1"/>
          </p:cNvSpPr>
          <p:nvPr/>
        </p:nvSpPr>
        <p:spPr>
          <a:xfrm>
            <a:off x="272480" y="180132"/>
            <a:ext cx="5381560" cy="38946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2000">
                <a:latin typeface="KoPub돋움체 Bold"/>
                <a:ea typeface="KoPub돋움체 Bold"/>
              </a:rPr>
              <a:t>3. </a:t>
            </a:r>
            <a:r>
              <a:rPr lang="ko-KR" altLang="en-US" sz="2000">
                <a:latin typeface="KoPub돋움체 Bold"/>
                <a:ea typeface="KoPub돋움체 Bold"/>
              </a:rPr>
              <a:t>과제 추진 방법 </a:t>
            </a:r>
            <a:r>
              <a:rPr lang="en-US" altLang="ko-KR" sz="2000">
                <a:latin typeface="KoPub돋움체 Bold"/>
                <a:ea typeface="KoPub돋움체 Bold"/>
              </a:rPr>
              <a:t>– AI </a:t>
            </a:r>
            <a:r>
              <a:rPr lang="ko-KR" altLang="en-US" sz="2000">
                <a:latin typeface="KoPub돋움체 Bold"/>
                <a:ea typeface="KoPub돋움체 Bold"/>
              </a:rPr>
              <a:t>예측 분석모델 적용 대상</a:t>
            </a:r>
          </a:p>
        </p:txBody>
      </p:sp>
      <p:graphicFrame>
        <p:nvGraphicFramePr>
          <p:cNvPr id="3" name="object 96"/>
          <p:cNvGraphicFramePr>
            <a:graphicFrameLocks noGrp="1"/>
          </p:cNvGraphicFramePr>
          <p:nvPr/>
        </p:nvGraphicFramePr>
        <p:xfrm>
          <a:off x="442374" y="1133211"/>
          <a:ext cx="8928992" cy="45584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16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300">
                          <a:latin typeface="KoPub돋움체 Bold"/>
                          <a:ea typeface="KoPub돋움체 Bold"/>
                          <a:cs typeface="Times New Roman"/>
                        </a:rPr>
                        <a:t>환경관리</a:t>
                      </a:r>
                    </a:p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300">
                          <a:latin typeface="KoPub돋움체 Bold"/>
                          <a:ea typeface="KoPub돋움체 Bold"/>
                          <a:cs typeface="Times New Roman"/>
                        </a:rPr>
                        <a:t>기능</a:t>
                      </a:r>
                      <a:endParaRPr sz="1300">
                        <a:latin typeface="KoPub돋움체 Bold"/>
                        <a:ea typeface="KoPub돋움체 Bold"/>
                        <a:cs typeface="Times New Roman"/>
                      </a:endParaRPr>
                    </a:p>
                  </a:txBody>
                  <a:tcPr marL="36000" marR="36000" marT="0" marB="0" anchor="ctr">
                    <a:lnR w="6350">
                      <a:solidFill>
                        <a:srgbClr val="333E50"/>
                      </a:solidFill>
                      <a:prstDash val="solid"/>
                    </a:lnR>
                    <a:lnT w="19050">
                      <a:solidFill>
                        <a:srgbClr val="0086C9"/>
                      </a:solidFill>
                      <a:prstDash val="solid"/>
                    </a:lnT>
                    <a:lnB w="6350">
                      <a:solidFill>
                        <a:srgbClr val="333E50"/>
                      </a:solidFill>
                      <a:prstDash val="solid"/>
                    </a:lnB>
                    <a:solidFill>
                      <a:srgbClr val="D9E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300">
                          <a:latin typeface="KoPub돋움체 Bold"/>
                          <a:ea typeface="KoPub돋움체 Bold"/>
                          <a:cs typeface="Times New Roman"/>
                        </a:rPr>
                        <a:t>수집데이터</a:t>
                      </a:r>
                      <a:endParaRPr sz="1300">
                        <a:latin typeface="KoPub돋움체 Bold"/>
                        <a:ea typeface="KoPub돋움체 Bold"/>
                        <a:cs typeface="Times New Roman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33E50"/>
                      </a:solidFill>
                      <a:prstDash val="solid"/>
                      <a:round/>
                    </a:lnL>
                    <a:lnR w="6350">
                      <a:solidFill>
                        <a:srgbClr val="333E50"/>
                      </a:solidFill>
                      <a:prstDash val="solid"/>
                    </a:lnR>
                    <a:lnT w="19050">
                      <a:solidFill>
                        <a:srgbClr val="0086C9"/>
                      </a:solidFill>
                      <a:prstDash val="solid"/>
                    </a:lnT>
                    <a:lnB w="6350" cap="flat" cmpd="sng" algn="ctr">
                      <a:solidFill>
                        <a:srgbClr val="333E50"/>
                      </a:solidFill>
                      <a:prstDash val="solid"/>
                      <a:round/>
                    </a:lnB>
                    <a:solidFill>
                      <a:srgbClr val="D9E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300">
                          <a:latin typeface="KoPub돋움체 Bold"/>
                          <a:ea typeface="KoPub돋움체 Bold"/>
                          <a:cs typeface="Times New Roman"/>
                        </a:rPr>
                        <a:t>예측모델인자</a:t>
                      </a:r>
                      <a:r>
                        <a:rPr lang="en-US" altLang="ko-KR" sz="1300">
                          <a:latin typeface="KoPub돋움체 Bold"/>
                          <a:ea typeface="KoPub돋움체 Bold"/>
                          <a:cs typeface="Times New Roman"/>
                        </a:rPr>
                        <a:t>(</a:t>
                      </a:r>
                      <a:r>
                        <a:rPr lang="ko-KR" altLang="en-US" sz="1300">
                          <a:latin typeface="KoPub돋움체 Bold"/>
                          <a:ea typeface="KoPub돋움체 Bold"/>
                          <a:cs typeface="Times New Roman"/>
                        </a:rPr>
                        <a:t>독립변수</a:t>
                      </a:r>
                      <a:r>
                        <a:rPr lang="en-US" altLang="ko-KR" sz="1300">
                          <a:latin typeface="KoPub돋움체 Bold"/>
                          <a:ea typeface="KoPub돋움체 Bold"/>
                          <a:cs typeface="Times New Roman"/>
                        </a:rPr>
                        <a:t>)</a:t>
                      </a:r>
                      <a:endParaRPr sz="1300">
                        <a:latin typeface="KoPub돋움체 Bold"/>
                        <a:ea typeface="KoPub돋움체 Bold"/>
                        <a:cs typeface="Times New Roman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33E50"/>
                      </a:solidFill>
                      <a:prstDash val="solid"/>
                      <a:round/>
                    </a:lnL>
                    <a:lnR w="6350">
                      <a:solidFill>
                        <a:srgbClr val="333E50"/>
                      </a:solidFill>
                      <a:prstDash val="solid"/>
                    </a:lnR>
                    <a:lnT w="19050">
                      <a:solidFill>
                        <a:srgbClr val="0086C9"/>
                      </a:solidFill>
                      <a:prstDash val="solid"/>
                    </a:lnT>
                    <a:lnB w="6350" cap="flat" cmpd="sng" algn="ctr">
                      <a:solidFill>
                        <a:srgbClr val="333E50"/>
                      </a:solidFill>
                      <a:prstDash val="solid"/>
                      <a:round/>
                    </a:lnB>
                    <a:solidFill>
                      <a:srgbClr val="D9E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FontTx/>
                        <a:buNone/>
                        <a:defRPr/>
                      </a:pPr>
                      <a:r>
                        <a:rPr lang="en-US" altLang="ko-KR" sz="1300">
                          <a:latin typeface="KoPub돋움체 Bold"/>
                          <a:ea typeface="KoPub돋움체 Bold"/>
                          <a:cs typeface="Times New Roman"/>
                        </a:rPr>
                        <a:t>AI</a:t>
                      </a:r>
                      <a:r>
                        <a:rPr lang="ko-KR" altLang="en-US" sz="1300">
                          <a:latin typeface="KoPub돋움체 Bold"/>
                          <a:ea typeface="KoPub돋움체 Bold"/>
                          <a:cs typeface="Times New Roman"/>
                        </a:rPr>
                        <a:t>예측 분석 대상</a:t>
                      </a:r>
                      <a:endParaRPr sz="1300">
                        <a:latin typeface="KoPub돋움체 Bold"/>
                        <a:ea typeface="KoPub돋움체 Bold"/>
                        <a:cs typeface="Times New Roman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333E5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</a:lnR>
                    <a:lnT w="19050">
                      <a:solidFill>
                        <a:srgbClr val="0086C9"/>
                      </a:solidFill>
                      <a:prstDash val="solid"/>
                    </a:lnT>
                    <a:lnB w="6350" cap="flat" cmpd="sng" algn="ctr">
                      <a:solidFill>
                        <a:srgbClr val="333E50"/>
                      </a:solidFill>
                      <a:prstDash val="solid"/>
                      <a:round/>
                    </a:lnB>
                    <a:solidFill>
                      <a:srgbClr val="D9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68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시각화</a:t>
                      </a:r>
                      <a:endParaRPr sz="13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333E50"/>
                      </a:solidFill>
                      <a:prstDash val="solid"/>
                      <a:round/>
                    </a:lnT>
                    <a:lnB w="19050">
                      <a:solidFill>
                        <a:srgbClr val="0086C9"/>
                      </a:solidFill>
                      <a:prstDash val="soli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lnSpc>
                          <a:spcPct val="150000"/>
                        </a:lnSpc>
                        <a:spcBef>
                          <a:spcPts val="600"/>
                        </a:spcBef>
                        <a:buFont typeface="Arial"/>
                        <a:buChar char="•"/>
                        <a:defRPr/>
                      </a:pP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월별 해수면 상승 및 온실가스 데이터</a:t>
                      </a:r>
                    </a:p>
                    <a:p>
                      <a:pPr marL="180975" indent="-180975" algn="l">
                        <a:lnSpc>
                          <a:spcPct val="150000"/>
                        </a:lnSpc>
                        <a:spcBef>
                          <a:spcPts val="600"/>
                        </a:spcBef>
                        <a:buFont typeface="Arial"/>
                        <a:buChar char="•"/>
                        <a:defRPr/>
                      </a:pP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일자</a:t>
                      </a:r>
                      <a:r>
                        <a:rPr lang="en-US" altLang="ko-KR" sz="1300">
                          <a:latin typeface="KoPub돋움체 Medium"/>
                          <a:ea typeface="KoPub돋움체 Medium"/>
                          <a:cs typeface="Times New Roman"/>
                        </a:rPr>
                        <a:t>, </a:t>
                      </a: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날씨</a:t>
                      </a:r>
                      <a:r>
                        <a:rPr lang="en-US" altLang="ko-KR" sz="1300">
                          <a:latin typeface="KoPub돋움체 Medium"/>
                          <a:ea typeface="KoPub돋움체 Medium"/>
                          <a:cs typeface="Times New Roman"/>
                        </a:rPr>
                        <a:t>, </a:t>
                      </a: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온도 외에 해수면 관련 핵심변수가 포함된 데이터셋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333E50"/>
                      </a:solidFill>
                      <a:prstDash val="solid"/>
                      <a:round/>
                    </a:lnT>
                    <a:lnB w="19050">
                      <a:solidFill>
                        <a:srgbClr val="0086C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lnSpc>
                          <a:spcPct val="150000"/>
                        </a:lnSpc>
                        <a:spcBef>
                          <a:spcPts val="600"/>
                        </a:spcBef>
                        <a:buFont typeface="Arial"/>
                        <a:buChar char="•"/>
                        <a:defRPr/>
                      </a:pPr>
                      <a:endParaRPr lang="ko-KR" altLang="en-US" sz="13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  <a:p>
                      <a:pPr marL="180975" indent="-180975" algn="l">
                        <a:lnSpc>
                          <a:spcPct val="150000"/>
                        </a:lnSpc>
                        <a:spcBef>
                          <a:spcPts val="600"/>
                        </a:spcBef>
                        <a:buFont typeface="Arial"/>
                        <a:buChar char="•"/>
                        <a:defRPr/>
                      </a:pP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극지방 변수 </a:t>
                      </a:r>
                      <a:r>
                        <a:rPr lang="en-US" altLang="ko-KR" sz="1300">
                          <a:latin typeface="KoPub돋움체 Medium"/>
                          <a:ea typeface="KoPub돋움체 Medium"/>
                          <a:cs typeface="Times New Roman"/>
                        </a:rPr>
                        <a:t>: </a:t>
                      </a: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북극</a:t>
                      </a:r>
                      <a:r>
                        <a:rPr lang="en-US" altLang="ko-KR" sz="1300">
                          <a:latin typeface="KoPub돋움체 Medium"/>
                          <a:ea typeface="KoPub돋움체 Medium"/>
                          <a:cs typeface="Times New Roman"/>
                        </a:rPr>
                        <a:t>,</a:t>
                      </a: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 남극 얼음 면적</a:t>
                      </a:r>
                      <a:r>
                        <a:rPr lang="en-US" altLang="ko-KR" sz="1300">
                          <a:latin typeface="KoPub돋움체 Medium"/>
                          <a:ea typeface="KoPub돋움체 Medium"/>
                          <a:cs typeface="Times New Roman"/>
                        </a:rPr>
                        <a:t>,</a:t>
                      </a: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 최소값</a:t>
                      </a:r>
                      <a:r>
                        <a:rPr lang="en-US" altLang="ko-KR" sz="1300">
                          <a:latin typeface="KoPub돋움체 Medium"/>
                          <a:ea typeface="KoPub돋움체 Medium"/>
                          <a:cs typeface="Times New Roman"/>
                        </a:rPr>
                        <a:t>,</a:t>
                      </a: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 최대값</a:t>
                      </a:r>
                      <a:r>
                        <a:rPr lang="en-US" altLang="ko-KR" sz="1300">
                          <a:latin typeface="KoPub돋움체 Medium"/>
                          <a:ea typeface="KoPub돋움체 Medium"/>
                          <a:cs typeface="Times New Roman"/>
                        </a:rPr>
                        <a:t>,</a:t>
                      </a: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 변화 추세 등 </a:t>
                      </a:r>
                    </a:p>
                    <a:p>
                      <a:pPr marL="180975" indent="-180975" algn="l">
                        <a:lnSpc>
                          <a:spcPct val="150000"/>
                        </a:lnSpc>
                        <a:spcBef>
                          <a:spcPts val="600"/>
                        </a:spcBef>
                        <a:buFont typeface="Arial"/>
                        <a:buChar char="•"/>
                        <a:defRPr/>
                      </a:pP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환경변수 </a:t>
                      </a:r>
                      <a:r>
                        <a:rPr lang="en-US" altLang="ko-KR" sz="1300">
                          <a:latin typeface="KoPub돋움체 Medium"/>
                          <a:ea typeface="KoPub돋움체 Medium"/>
                          <a:cs typeface="Times New Roman"/>
                        </a:rPr>
                        <a:t>: </a:t>
                      </a: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이산화탄소 배출량</a:t>
                      </a:r>
                      <a:r>
                        <a:rPr lang="en-US" altLang="ko-KR" sz="1300">
                          <a:latin typeface="KoPub돋움체 Medium"/>
                          <a:ea typeface="KoPub돋움체 Medium"/>
                          <a:cs typeface="Times New Roman"/>
                        </a:rPr>
                        <a:t>,</a:t>
                      </a: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 </a:t>
                      </a:r>
                      <a:r>
                        <a:rPr lang="en-US" altLang="ko-KR" sz="1300">
                          <a:latin typeface="KoPub돋움체 Medium"/>
                          <a:ea typeface="KoPub돋움체 Medium"/>
                          <a:cs typeface="Times New Roman"/>
                        </a:rPr>
                        <a:t>1</a:t>
                      </a: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인 기준 배출량</a:t>
                      </a:r>
                      <a:r>
                        <a:rPr lang="en-US" altLang="ko-KR" sz="1300">
                          <a:latin typeface="KoPub돋움체 Medium"/>
                          <a:ea typeface="KoPub돋움체 Medium"/>
                          <a:cs typeface="Times New Roman"/>
                        </a:rPr>
                        <a:t>,</a:t>
                      </a: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 이산화질소</a:t>
                      </a:r>
                      <a:r>
                        <a:rPr lang="en-US" altLang="ko-KR" sz="1300">
                          <a:latin typeface="KoPub돋움체 Medium"/>
                          <a:ea typeface="KoPub돋움체 Medium"/>
                          <a:cs typeface="Times New Roman"/>
                        </a:rPr>
                        <a:t>,</a:t>
                      </a: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 메탄 농도 등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buFont typeface="Arial"/>
                        <a:buNone/>
                        <a:defRPr/>
                      </a:pP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해수면 상승률을 예측하기 위해 사용할 주요 변수들입니다</a:t>
                      </a:r>
                      <a:r>
                        <a:rPr lang="en-US" altLang="ko-KR" sz="1300">
                          <a:latin typeface="KoPub돋움체 Medium"/>
                          <a:ea typeface="KoPub돋움체 Medium"/>
                          <a:cs typeface="Times New Roman"/>
                        </a:rPr>
                        <a:t>.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333E50"/>
                      </a:solidFill>
                      <a:prstDash val="solid"/>
                      <a:round/>
                    </a:lnT>
                    <a:lnB w="19050">
                      <a:solidFill>
                        <a:srgbClr val="0086C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lnSpc>
                          <a:spcPct val="150000"/>
                        </a:lnSpc>
                        <a:spcBef>
                          <a:spcPts val="600"/>
                        </a:spcBef>
                        <a:buFont typeface="Arial"/>
                        <a:buChar char="•"/>
                        <a:defRPr/>
                      </a:pP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해수면 상승율 예측</a:t>
                      </a:r>
                    </a:p>
                    <a:p>
                      <a:pPr marL="180975" indent="-180975" algn="l">
                        <a:lnSpc>
                          <a:spcPct val="150000"/>
                        </a:lnSpc>
                        <a:spcBef>
                          <a:spcPts val="600"/>
                        </a:spcBef>
                        <a:buFont typeface="Arial"/>
                        <a:buChar char="•"/>
                        <a:defRPr/>
                      </a:pP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산업활동 등에서 배출되는 이산화탄소</a:t>
                      </a:r>
                      <a:r>
                        <a:rPr lang="en-US" altLang="ko-KR" sz="1300">
                          <a:latin typeface="KoPub돋움체 Medium"/>
                          <a:ea typeface="KoPub돋움체 Medium"/>
                          <a:cs typeface="Times New Roman"/>
                        </a:rPr>
                        <a:t>,</a:t>
                      </a: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 메탄 등 온난화 현상의 상관관계 분석</a:t>
                      </a:r>
                    </a:p>
                    <a:p>
                      <a:pPr marL="180975" indent="-180975" algn="l">
                        <a:lnSpc>
                          <a:spcPct val="150000"/>
                        </a:lnSpc>
                        <a:spcBef>
                          <a:spcPts val="600"/>
                        </a:spcBef>
                        <a:buFont typeface="Arial"/>
                        <a:buChar char="•"/>
                        <a:defRPr/>
                      </a:pPr>
                      <a:r>
                        <a:rPr lang="ko-KR" altLang="en-US" sz="1300">
                          <a:latin typeface="KoPub돋움체 Medium"/>
                          <a:ea typeface="KoPub돋움체 Medium"/>
                          <a:cs typeface="Times New Roman"/>
                        </a:rPr>
                        <a:t>생태계 변화 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buFont typeface="Arial"/>
                        <a:buNone/>
                        <a:defRPr/>
                      </a:pPr>
                      <a:endParaRPr lang="ko-KR" altLang="en-US" sz="1300">
                        <a:latin typeface="KoPub돋움체 Medium"/>
                        <a:ea typeface="KoPub돋움체 Medium"/>
                        <a:cs typeface="Times New Roman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333E50"/>
                      </a:solidFill>
                      <a:prstDash val="solid"/>
                      <a:round/>
                    </a:lnT>
                    <a:lnB w="19050">
                      <a:solidFill>
                        <a:srgbClr val="0086C9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/>
          <p:cNvSpPr txBox="1">
            <a:spLocks noChangeArrowheads="1"/>
          </p:cNvSpPr>
          <p:nvPr/>
        </p:nvSpPr>
        <p:spPr>
          <a:xfrm>
            <a:off x="272480" y="180132"/>
            <a:ext cx="5867334" cy="38946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2000">
                <a:latin typeface="KoPub돋움체 Bold"/>
                <a:ea typeface="KoPub돋움체 Bold"/>
              </a:rPr>
              <a:t>3. </a:t>
            </a:r>
            <a:r>
              <a:rPr lang="ko-KR" altLang="en-US" sz="2000">
                <a:latin typeface="KoPub돋움체 Bold"/>
                <a:ea typeface="KoPub돋움체 Bold"/>
              </a:rPr>
              <a:t>과제 추진 방법 </a:t>
            </a:r>
            <a:r>
              <a:rPr lang="en-US" altLang="ko-KR" sz="2000">
                <a:latin typeface="KoPub돋움체 Bold"/>
                <a:ea typeface="KoPub돋움체 Bold"/>
              </a:rPr>
              <a:t>– AI </a:t>
            </a:r>
            <a:r>
              <a:rPr lang="ko-KR" altLang="en-US" sz="2000">
                <a:latin typeface="KoPub돋움체 Bold"/>
                <a:ea typeface="KoPub돋움체 Bold"/>
              </a:rPr>
              <a:t>예측 분석모델 구축 프로세스</a:t>
            </a:r>
          </a:p>
        </p:txBody>
      </p:sp>
      <p:grpSp>
        <p:nvGrpSpPr>
          <p:cNvPr id="51" name="그룹 50"/>
          <p:cNvGrpSpPr/>
          <p:nvPr/>
        </p:nvGrpSpPr>
        <p:grpSpPr>
          <a:xfrm>
            <a:off x="630832" y="1121943"/>
            <a:ext cx="8642651" cy="4543528"/>
            <a:chOff x="630834" y="1121944"/>
            <a:chExt cx="5923857" cy="2883680"/>
          </a:xfrm>
        </p:grpSpPr>
        <p:sp>
          <p:nvSpPr>
            <p:cNvPr id="4" name="object 3"/>
            <p:cNvSpPr/>
            <p:nvPr/>
          </p:nvSpPr>
          <p:spPr>
            <a:xfrm>
              <a:off x="2155358" y="1465605"/>
              <a:ext cx="2696862" cy="1106885"/>
            </a:xfrm>
            <a:custGeom>
              <a:avLst/>
              <a:gdLst/>
              <a:ahLst/>
              <a:cxnLst/>
              <a:rect l="l" t="t" r="r" b="b"/>
              <a:pathLst>
                <a:path w="5370830" h="1617345">
                  <a:moveTo>
                    <a:pt x="0" y="269494"/>
                  </a:moveTo>
                  <a:lnTo>
                    <a:pt x="4341" y="221050"/>
                  </a:lnTo>
                  <a:lnTo>
                    <a:pt x="16859" y="175456"/>
                  </a:lnTo>
                  <a:lnTo>
                    <a:pt x="36792" y="133472"/>
                  </a:lnTo>
                  <a:lnTo>
                    <a:pt x="63379" y="95859"/>
                  </a:lnTo>
                  <a:lnTo>
                    <a:pt x="95859" y="63379"/>
                  </a:lnTo>
                  <a:lnTo>
                    <a:pt x="133472" y="36792"/>
                  </a:lnTo>
                  <a:lnTo>
                    <a:pt x="175456" y="16859"/>
                  </a:lnTo>
                  <a:lnTo>
                    <a:pt x="221050" y="4341"/>
                  </a:lnTo>
                  <a:lnTo>
                    <a:pt x="269494" y="0"/>
                  </a:lnTo>
                  <a:lnTo>
                    <a:pt x="5101082" y="0"/>
                  </a:lnTo>
                  <a:lnTo>
                    <a:pt x="5149525" y="4341"/>
                  </a:lnTo>
                  <a:lnTo>
                    <a:pt x="5195119" y="16859"/>
                  </a:lnTo>
                  <a:lnTo>
                    <a:pt x="5237103" y="36792"/>
                  </a:lnTo>
                  <a:lnTo>
                    <a:pt x="5274716" y="63379"/>
                  </a:lnTo>
                  <a:lnTo>
                    <a:pt x="5307196" y="95859"/>
                  </a:lnTo>
                  <a:lnTo>
                    <a:pt x="5333783" y="133472"/>
                  </a:lnTo>
                  <a:lnTo>
                    <a:pt x="5353716" y="175456"/>
                  </a:lnTo>
                  <a:lnTo>
                    <a:pt x="5366234" y="221050"/>
                  </a:lnTo>
                  <a:lnTo>
                    <a:pt x="5370576" y="269494"/>
                  </a:lnTo>
                  <a:lnTo>
                    <a:pt x="5370576" y="1347470"/>
                  </a:lnTo>
                  <a:lnTo>
                    <a:pt x="5366234" y="1395913"/>
                  </a:lnTo>
                  <a:lnTo>
                    <a:pt x="5353716" y="1441507"/>
                  </a:lnTo>
                  <a:lnTo>
                    <a:pt x="5333783" y="1483491"/>
                  </a:lnTo>
                  <a:lnTo>
                    <a:pt x="5307196" y="1521104"/>
                  </a:lnTo>
                  <a:lnTo>
                    <a:pt x="5274716" y="1553584"/>
                  </a:lnTo>
                  <a:lnTo>
                    <a:pt x="5237103" y="1580171"/>
                  </a:lnTo>
                  <a:lnTo>
                    <a:pt x="5195119" y="1600104"/>
                  </a:lnTo>
                  <a:lnTo>
                    <a:pt x="5149525" y="1612622"/>
                  </a:lnTo>
                  <a:lnTo>
                    <a:pt x="5101082" y="1616964"/>
                  </a:lnTo>
                  <a:lnTo>
                    <a:pt x="269494" y="1616964"/>
                  </a:lnTo>
                  <a:lnTo>
                    <a:pt x="221050" y="1612622"/>
                  </a:lnTo>
                  <a:lnTo>
                    <a:pt x="175456" y="1600104"/>
                  </a:lnTo>
                  <a:lnTo>
                    <a:pt x="133472" y="1580171"/>
                  </a:lnTo>
                  <a:lnTo>
                    <a:pt x="95859" y="1553584"/>
                  </a:lnTo>
                  <a:lnTo>
                    <a:pt x="63379" y="1521104"/>
                  </a:lnTo>
                  <a:lnTo>
                    <a:pt x="36792" y="1483491"/>
                  </a:lnTo>
                  <a:lnTo>
                    <a:pt x="16859" y="1441507"/>
                  </a:lnTo>
                  <a:lnTo>
                    <a:pt x="4341" y="1395913"/>
                  </a:lnTo>
                  <a:lnTo>
                    <a:pt x="0" y="1347470"/>
                  </a:lnTo>
                  <a:lnTo>
                    <a:pt x="0" y="269494"/>
                  </a:lnTo>
                  <a:close/>
                </a:path>
              </a:pathLst>
            </a:custGeom>
            <a:ln w="12700">
              <a:solidFill>
                <a:srgbClr val="AEABAB"/>
              </a:solidFill>
              <a:prstDash val="sysDash"/>
            </a:ln>
          </p:spPr>
          <p:txBody>
            <a:bodyPr wrap="square" lIns="0" tIns="0" rIns="0" bIns="0"/>
            <a:lstStyle/>
            <a:p>
              <a:pPr lvl="0">
                <a:defRPr/>
              </a:pPr>
              <a:endParaRPr sz="1300">
                <a:latin typeface="KoPub돋움체 Bold"/>
                <a:ea typeface="KoPub돋움체 Bold"/>
              </a:endParaRPr>
            </a:p>
          </p:txBody>
        </p:sp>
        <p:sp>
          <p:nvSpPr>
            <p:cNvPr id="5" name="object 4"/>
            <p:cNvSpPr/>
            <p:nvPr/>
          </p:nvSpPr>
          <p:spPr>
            <a:xfrm>
              <a:off x="1885225" y="1904709"/>
              <a:ext cx="186848" cy="173399"/>
            </a:xfrm>
            <a:custGeom>
              <a:avLst/>
              <a:gdLst/>
              <a:ahLst/>
              <a:cxnLst/>
              <a:rect l="l" t="t" r="r" b="b"/>
              <a:pathLst>
                <a:path w="372110" h="253364">
                  <a:moveTo>
                    <a:pt x="245364" y="0"/>
                  </a:moveTo>
                  <a:lnTo>
                    <a:pt x="245364" y="63245"/>
                  </a:lnTo>
                  <a:lnTo>
                    <a:pt x="0" y="63245"/>
                  </a:lnTo>
                  <a:lnTo>
                    <a:pt x="0" y="189737"/>
                  </a:lnTo>
                  <a:lnTo>
                    <a:pt x="245364" y="189737"/>
                  </a:lnTo>
                  <a:lnTo>
                    <a:pt x="245364" y="252983"/>
                  </a:lnTo>
                  <a:lnTo>
                    <a:pt x="371856" y="126491"/>
                  </a:lnTo>
                  <a:lnTo>
                    <a:pt x="245364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/>
            <a:lstStyle/>
            <a:p>
              <a:pPr lvl="0">
                <a:defRPr/>
              </a:pPr>
              <a:endParaRPr sz="1300">
                <a:latin typeface="KoPub돋움체 Bold"/>
                <a:ea typeface="KoPub돋움체 Bold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284873" y="1686287"/>
              <a:ext cx="464871" cy="518708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</p:spPr>
          <p:txBody>
            <a:bodyPr wrap="square" lIns="0" tIns="0" rIns="0" bIns="0"/>
            <a:lstStyle/>
            <a:p>
              <a:pPr lvl="0">
                <a:defRPr/>
              </a:pPr>
              <a:endParaRPr sz="1300">
                <a:latin typeface="KoPub돋움체 Bold"/>
                <a:ea typeface="KoPub돋움체 Bold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161391" y="1676914"/>
              <a:ext cx="543374" cy="549037"/>
            </a:xfrm>
            <a:prstGeom prst="rect">
              <a:avLst/>
            </a:prstGeom>
            <a:blipFill rotWithShape="1">
              <a:blip r:embed="rId3"/>
              <a:stretch>
                <a:fillRect/>
              </a:stretch>
            </a:blipFill>
          </p:spPr>
          <p:txBody>
            <a:bodyPr wrap="square" lIns="0" tIns="0" rIns="0" bIns="0"/>
            <a:lstStyle/>
            <a:p>
              <a:pPr lvl="0">
                <a:defRPr/>
              </a:pPr>
              <a:endParaRPr sz="1300">
                <a:latin typeface="KoPub돋움체 Bold"/>
                <a:ea typeface="KoPub돋움체 Bold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239210" y="1686287"/>
              <a:ext cx="464506" cy="512547"/>
            </a:xfrm>
            <a:prstGeom prst="rect">
              <a:avLst/>
            </a:prstGeom>
            <a:blipFill rotWithShape="1">
              <a:blip r:embed="rId4"/>
              <a:stretch>
                <a:fillRect/>
              </a:stretch>
            </a:blipFill>
          </p:spPr>
          <p:txBody>
            <a:bodyPr wrap="square" lIns="0" tIns="0" rIns="0" bIns="0"/>
            <a:lstStyle/>
            <a:p>
              <a:pPr lvl="0">
                <a:defRPr/>
              </a:pPr>
              <a:endParaRPr sz="1300">
                <a:latin typeface="KoPub돋움체 Bold"/>
                <a:ea typeface="KoPub돋움체 Bold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825032" y="1972504"/>
              <a:ext cx="161021" cy="52150"/>
            </a:xfrm>
            <a:custGeom>
              <a:avLst/>
              <a:gdLst/>
              <a:ahLst/>
              <a:cxnLst/>
              <a:rect l="l" t="t" r="r" b="b"/>
              <a:pathLst>
                <a:path w="320675" h="76200">
                  <a:moveTo>
                    <a:pt x="244093" y="0"/>
                  </a:moveTo>
                  <a:lnTo>
                    <a:pt x="244093" y="76200"/>
                  </a:lnTo>
                  <a:lnTo>
                    <a:pt x="307593" y="44450"/>
                  </a:lnTo>
                  <a:lnTo>
                    <a:pt x="256793" y="44450"/>
                  </a:lnTo>
                  <a:lnTo>
                    <a:pt x="256793" y="31750"/>
                  </a:lnTo>
                  <a:lnTo>
                    <a:pt x="307593" y="31750"/>
                  </a:lnTo>
                  <a:lnTo>
                    <a:pt x="244093" y="0"/>
                  </a:lnTo>
                  <a:close/>
                </a:path>
                <a:path w="320675" h="76200">
                  <a:moveTo>
                    <a:pt x="244093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44093" y="44450"/>
                  </a:lnTo>
                  <a:lnTo>
                    <a:pt x="244093" y="31750"/>
                  </a:lnTo>
                  <a:close/>
                </a:path>
                <a:path w="320675" h="76200">
                  <a:moveTo>
                    <a:pt x="307593" y="31750"/>
                  </a:moveTo>
                  <a:lnTo>
                    <a:pt x="256793" y="31750"/>
                  </a:lnTo>
                  <a:lnTo>
                    <a:pt x="256793" y="44450"/>
                  </a:lnTo>
                  <a:lnTo>
                    <a:pt x="307593" y="44450"/>
                  </a:lnTo>
                  <a:lnTo>
                    <a:pt x="320293" y="38100"/>
                  </a:lnTo>
                  <a:lnTo>
                    <a:pt x="307593" y="31750"/>
                  </a:lnTo>
                  <a:close/>
                </a:path>
              </a:pathLst>
            </a:custGeom>
            <a:solidFill>
              <a:srgbClr val="3A3838"/>
            </a:solidFill>
          </p:spPr>
          <p:txBody>
            <a:bodyPr wrap="square" lIns="0" tIns="0" rIns="0" bIns="0"/>
            <a:lstStyle/>
            <a:p>
              <a:pPr lvl="0">
                <a:defRPr/>
              </a:pPr>
              <a:endParaRPr sz="1300">
                <a:latin typeface="KoPub돋움체 Bold"/>
                <a:ea typeface="KoPub돋움체 Bold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771644" y="1988148"/>
              <a:ext cx="161021" cy="52150"/>
            </a:xfrm>
            <a:custGeom>
              <a:avLst/>
              <a:gdLst/>
              <a:ahLst/>
              <a:cxnLst/>
              <a:rect l="l" t="t" r="r" b="b"/>
              <a:pathLst>
                <a:path w="320675" h="76200">
                  <a:moveTo>
                    <a:pt x="244094" y="0"/>
                  </a:moveTo>
                  <a:lnTo>
                    <a:pt x="244094" y="76200"/>
                  </a:lnTo>
                  <a:lnTo>
                    <a:pt x="307594" y="44450"/>
                  </a:lnTo>
                  <a:lnTo>
                    <a:pt x="256794" y="44450"/>
                  </a:lnTo>
                  <a:lnTo>
                    <a:pt x="256794" y="31750"/>
                  </a:lnTo>
                  <a:lnTo>
                    <a:pt x="307594" y="31750"/>
                  </a:lnTo>
                  <a:lnTo>
                    <a:pt x="244094" y="0"/>
                  </a:lnTo>
                  <a:close/>
                </a:path>
                <a:path w="320675" h="76200">
                  <a:moveTo>
                    <a:pt x="244094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44094" y="44450"/>
                  </a:lnTo>
                  <a:lnTo>
                    <a:pt x="244094" y="31750"/>
                  </a:lnTo>
                  <a:close/>
                </a:path>
                <a:path w="320675" h="76200">
                  <a:moveTo>
                    <a:pt x="307594" y="31750"/>
                  </a:moveTo>
                  <a:lnTo>
                    <a:pt x="256794" y="31750"/>
                  </a:lnTo>
                  <a:lnTo>
                    <a:pt x="256794" y="44450"/>
                  </a:lnTo>
                  <a:lnTo>
                    <a:pt x="307594" y="44450"/>
                  </a:lnTo>
                  <a:lnTo>
                    <a:pt x="320294" y="38100"/>
                  </a:lnTo>
                  <a:lnTo>
                    <a:pt x="307594" y="31750"/>
                  </a:lnTo>
                  <a:close/>
                </a:path>
              </a:pathLst>
            </a:custGeom>
            <a:solidFill>
              <a:srgbClr val="3A3838"/>
            </a:solidFill>
          </p:spPr>
          <p:txBody>
            <a:bodyPr wrap="square" lIns="0" tIns="0" rIns="0" bIns="0"/>
            <a:lstStyle/>
            <a:p>
              <a:pPr lvl="0">
                <a:defRPr/>
              </a:pPr>
              <a:endParaRPr sz="1300">
                <a:latin typeface="KoPub돋움체 Bold"/>
                <a:ea typeface="KoPub돋움체 Bold"/>
              </a:endParaRPr>
            </a:p>
          </p:txBody>
        </p:sp>
        <p:sp>
          <p:nvSpPr>
            <p:cNvPr id="11" name="object 36"/>
            <p:cNvSpPr/>
            <p:nvPr/>
          </p:nvSpPr>
          <p:spPr>
            <a:xfrm>
              <a:off x="4911017" y="1896364"/>
              <a:ext cx="186848" cy="172095"/>
            </a:xfrm>
            <a:custGeom>
              <a:avLst/>
              <a:gdLst/>
              <a:ahLst/>
              <a:cxnLst/>
              <a:rect l="l" t="t" r="r" b="b"/>
              <a:pathLst>
                <a:path w="372109" h="251460">
                  <a:moveTo>
                    <a:pt x="246125" y="0"/>
                  </a:moveTo>
                  <a:lnTo>
                    <a:pt x="246125" y="62864"/>
                  </a:lnTo>
                  <a:lnTo>
                    <a:pt x="0" y="62864"/>
                  </a:lnTo>
                  <a:lnTo>
                    <a:pt x="0" y="188595"/>
                  </a:lnTo>
                  <a:lnTo>
                    <a:pt x="246125" y="188595"/>
                  </a:lnTo>
                  <a:lnTo>
                    <a:pt x="246125" y="251460"/>
                  </a:lnTo>
                  <a:lnTo>
                    <a:pt x="371855" y="125730"/>
                  </a:lnTo>
                  <a:lnTo>
                    <a:pt x="246125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/>
            <a:lstStyle/>
            <a:p>
              <a:pPr lvl="0">
                <a:defRPr/>
              </a:pPr>
              <a:endParaRPr sz="1300">
                <a:latin typeface="KoPub돋움체 Bold"/>
                <a:ea typeface="KoPub돋움체 Bold"/>
              </a:endParaRPr>
            </a:p>
          </p:txBody>
        </p:sp>
        <p:sp>
          <p:nvSpPr>
            <p:cNvPr id="12" name="object 45"/>
            <p:cNvSpPr/>
            <p:nvPr/>
          </p:nvSpPr>
          <p:spPr>
            <a:xfrm>
              <a:off x="1317598" y="2532594"/>
              <a:ext cx="0" cy="572346"/>
            </a:xfrm>
            <a:custGeom>
              <a:avLst/>
              <a:gdLst/>
              <a:ahLst/>
              <a:cxnLst/>
              <a:rect l="l" t="t" r="r" b="b"/>
              <a:pathLst>
                <a:path h="836295">
                  <a:moveTo>
                    <a:pt x="0" y="0"/>
                  </a:moveTo>
                  <a:lnTo>
                    <a:pt x="0" y="83629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/>
            <a:lstStyle/>
            <a:p>
              <a:pPr lvl="0">
                <a:defRPr/>
              </a:pPr>
              <a:endParaRPr sz="1300">
                <a:latin typeface="KoPub돋움체 Bold"/>
                <a:ea typeface="KoPub돋움체 Bold"/>
              </a:endParaRPr>
            </a:p>
          </p:txBody>
        </p:sp>
        <p:sp>
          <p:nvSpPr>
            <p:cNvPr id="13" name="object 61"/>
            <p:cNvSpPr/>
            <p:nvPr/>
          </p:nvSpPr>
          <p:spPr>
            <a:xfrm>
              <a:off x="2486580" y="2530509"/>
              <a:ext cx="0" cy="574519"/>
            </a:xfrm>
            <a:custGeom>
              <a:avLst/>
              <a:gdLst/>
              <a:ahLst/>
              <a:cxnLst/>
              <a:rect l="l" t="t" r="r" b="b"/>
              <a:pathLst>
                <a:path h="839470">
                  <a:moveTo>
                    <a:pt x="0" y="0"/>
                  </a:moveTo>
                  <a:lnTo>
                    <a:pt x="0" y="83947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/>
            <a:lstStyle/>
            <a:p>
              <a:pPr lvl="0">
                <a:defRPr/>
              </a:pPr>
              <a:endParaRPr sz="1300">
                <a:latin typeface="KoPub돋움체 Bold"/>
                <a:ea typeface="KoPub돋움체 Bold"/>
              </a:endParaRPr>
            </a:p>
          </p:txBody>
        </p:sp>
        <p:sp>
          <p:nvSpPr>
            <p:cNvPr id="14" name="object 86"/>
            <p:cNvSpPr/>
            <p:nvPr/>
          </p:nvSpPr>
          <p:spPr>
            <a:xfrm>
              <a:off x="3423374" y="2530509"/>
              <a:ext cx="0" cy="574519"/>
            </a:xfrm>
            <a:custGeom>
              <a:avLst/>
              <a:gdLst/>
              <a:ahLst/>
              <a:cxnLst/>
              <a:rect l="l" t="t" r="r" b="b"/>
              <a:pathLst>
                <a:path h="839470">
                  <a:moveTo>
                    <a:pt x="0" y="0"/>
                  </a:moveTo>
                  <a:lnTo>
                    <a:pt x="0" y="83947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/>
            <a:lstStyle/>
            <a:p>
              <a:pPr lvl="0">
                <a:defRPr/>
              </a:pPr>
              <a:endParaRPr sz="1300">
                <a:latin typeface="KoPub돋움체 Bold"/>
                <a:ea typeface="KoPub돋움체 Bold"/>
              </a:endParaRPr>
            </a:p>
          </p:txBody>
        </p:sp>
        <p:sp>
          <p:nvSpPr>
            <p:cNvPr id="15" name="object 108"/>
            <p:cNvSpPr/>
            <p:nvPr/>
          </p:nvSpPr>
          <p:spPr>
            <a:xfrm>
              <a:off x="4477121" y="2533637"/>
              <a:ext cx="0" cy="571043"/>
            </a:xfrm>
            <a:custGeom>
              <a:avLst/>
              <a:gdLst/>
              <a:ahLst/>
              <a:cxnLst/>
              <a:rect l="l" t="t" r="r" b="b"/>
              <a:pathLst>
                <a:path h="834389">
                  <a:moveTo>
                    <a:pt x="0" y="0"/>
                  </a:moveTo>
                  <a:lnTo>
                    <a:pt x="0" y="833882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/>
            <a:lstStyle/>
            <a:p>
              <a:pPr lvl="0">
                <a:defRPr/>
              </a:pPr>
              <a:endParaRPr sz="1300">
                <a:latin typeface="KoPub돋움체 Bold"/>
                <a:ea typeface="KoPub돋움체 Bold"/>
              </a:endParaRPr>
            </a:p>
          </p:txBody>
        </p:sp>
        <p:sp>
          <p:nvSpPr>
            <p:cNvPr id="16" name="object 134"/>
            <p:cNvSpPr/>
            <p:nvPr/>
          </p:nvSpPr>
          <p:spPr>
            <a:xfrm>
              <a:off x="5759677" y="2527379"/>
              <a:ext cx="0" cy="571043"/>
            </a:xfrm>
            <a:custGeom>
              <a:avLst/>
              <a:gdLst/>
              <a:ahLst/>
              <a:cxnLst/>
              <a:rect l="l" t="t" r="r" b="b"/>
              <a:pathLst>
                <a:path h="834389">
                  <a:moveTo>
                    <a:pt x="0" y="0"/>
                  </a:moveTo>
                  <a:lnTo>
                    <a:pt x="0" y="833882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/>
            <a:lstStyle/>
            <a:p>
              <a:pPr lvl="0">
                <a:defRPr/>
              </a:pPr>
              <a:endParaRPr sz="1300">
                <a:latin typeface="KoPub돋움체 Bold"/>
                <a:ea typeface="KoPub돋움체 Bold"/>
              </a:endParaRP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5207909" y="1490072"/>
              <a:ext cx="1160905" cy="1106885"/>
              <a:chOff x="5015055" y="2671155"/>
              <a:chExt cx="1160905" cy="1318419"/>
            </a:xfrm>
          </p:grpSpPr>
          <p:sp>
            <p:nvSpPr>
              <p:cNvPr id="18" name="object 11"/>
              <p:cNvSpPr/>
              <p:nvPr/>
            </p:nvSpPr>
            <p:spPr>
              <a:xfrm>
                <a:off x="5015055" y="2671155"/>
                <a:ext cx="870123" cy="96487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 wrap="square" lIns="0" tIns="0" rIns="0" bIns="0"/>
              <a:lstStyle/>
              <a:p>
                <a:pPr lvl="0">
                  <a:defRPr/>
                </a:pPr>
                <a:endParaRPr sz="1300">
                  <a:latin typeface="KoPub돋움체 Bold"/>
                  <a:ea typeface="KoPub돋움체 Bold"/>
                </a:endParaRPr>
              </a:p>
            </p:txBody>
          </p:sp>
          <p:sp>
            <p:nvSpPr>
              <p:cNvPr id="19" name="object 13"/>
              <p:cNvSpPr/>
              <p:nvPr/>
            </p:nvSpPr>
            <p:spPr>
              <a:xfrm>
                <a:off x="5021839" y="2680434"/>
                <a:ext cx="827425" cy="906976"/>
              </a:xfrm>
              <a:custGeom>
                <a:avLst/>
                <a:gdLst/>
                <a:ahLst/>
                <a:cxnLst/>
                <a:rect l="l" t="t" r="r" b="b"/>
                <a:pathLst>
                  <a:path w="1647825" h="1325245">
                    <a:moveTo>
                      <a:pt x="0" y="1324737"/>
                    </a:moveTo>
                    <a:lnTo>
                      <a:pt x="1647825" y="1324737"/>
                    </a:lnTo>
                    <a:lnTo>
                      <a:pt x="1647825" y="0"/>
                    </a:lnTo>
                    <a:lnTo>
                      <a:pt x="0" y="0"/>
                    </a:lnTo>
                    <a:lnTo>
                      <a:pt x="0" y="1324737"/>
                    </a:lnTo>
                    <a:close/>
                  </a:path>
                </a:pathLst>
              </a:custGeom>
              <a:ln w="9525">
                <a:solidFill>
                  <a:srgbClr val="7E7E7E"/>
                </a:solidFill>
              </a:ln>
            </p:spPr>
            <p:txBody>
              <a:bodyPr wrap="square" lIns="0" tIns="0" rIns="0" bIns="0"/>
              <a:lstStyle/>
              <a:p>
                <a:pPr lvl="0">
                  <a:defRPr/>
                </a:pPr>
                <a:endParaRPr sz="1300">
                  <a:latin typeface="KoPub돋움체 Bold"/>
                  <a:ea typeface="KoPub돋움체 Bold"/>
                </a:endParaRPr>
              </a:p>
            </p:txBody>
          </p:sp>
          <p:sp>
            <p:nvSpPr>
              <p:cNvPr id="20" name="object 14"/>
              <p:cNvSpPr/>
              <p:nvPr/>
            </p:nvSpPr>
            <p:spPr>
              <a:xfrm>
                <a:off x="5187260" y="2841230"/>
                <a:ext cx="827999" cy="98250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 wrap="square" lIns="0" tIns="0" rIns="0" bIns="0"/>
              <a:lstStyle/>
              <a:p>
                <a:pPr lvl="0">
                  <a:defRPr/>
                </a:pPr>
                <a:endParaRPr sz="1300">
                  <a:latin typeface="KoPub돋움체 Bold"/>
                  <a:ea typeface="KoPub돋움체 Bold"/>
                </a:endParaRPr>
              </a:p>
            </p:txBody>
          </p:sp>
          <p:sp>
            <p:nvSpPr>
              <p:cNvPr id="21" name="object 16"/>
              <p:cNvSpPr/>
              <p:nvPr/>
            </p:nvSpPr>
            <p:spPr>
              <a:xfrm>
                <a:off x="5203203" y="2862959"/>
                <a:ext cx="771625" cy="905672"/>
              </a:xfrm>
              <a:custGeom>
                <a:avLst/>
                <a:gdLst/>
                <a:ahLst/>
                <a:cxnLst/>
                <a:rect l="l" t="t" r="r" b="b"/>
                <a:pathLst>
                  <a:path w="1536700" h="1323339">
                    <a:moveTo>
                      <a:pt x="0" y="1323213"/>
                    </a:moveTo>
                    <a:lnTo>
                      <a:pt x="1536573" y="1323213"/>
                    </a:lnTo>
                    <a:lnTo>
                      <a:pt x="1536573" y="0"/>
                    </a:lnTo>
                    <a:lnTo>
                      <a:pt x="0" y="0"/>
                    </a:lnTo>
                    <a:lnTo>
                      <a:pt x="0" y="1323213"/>
                    </a:lnTo>
                    <a:close/>
                  </a:path>
                </a:pathLst>
              </a:custGeom>
              <a:ln w="9525">
                <a:solidFill>
                  <a:srgbClr val="7E7E7E"/>
                </a:solidFill>
              </a:ln>
            </p:spPr>
            <p:txBody>
              <a:bodyPr wrap="square" lIns="0" tIns="0" rIns="0" bIns="0"/>
              <a:lstStyle/>
              <a:p>
                <a:pPr lvl="0">
                  <a:defRPr/>
                </a:pPr>
                <a:endParaRPr sz="1300">
                  <a:latin typeface="KoPub돋움체 Bold"/>
                  <a:ea typeface="KoPub돋움체 Bold"/>
                </a:endParaRPr>
              </a:p>
            </p:txBody>
          </p:sp>
          <p:sp>
            <p:nvSpPr>
              <p:cNvPr id="22" name="object 37"/>
              <p:cNvSpPr/>
              <p:nvPr/>
            </p:nvSpPr>
            <p:spPr>
              <a:xfrm>
                <a:off x="5401529" y="3038357"/>
                <a:ext cx="774431" cy="951217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 wrap="square" lIns="0" tIns="0" rIns="0" bIns="0"/>
              <a:lstStyle/>
              <a:p>
                <a:pPr lvl="0">
                  <a:defRPr/>
                </a:pPr>
                <a:endParaRPr sz="1300">
                  <a:latin typeface="KoPub돋움체 Bold"/>
                  <a:ea typeface="KoPub돋움체 Bold"/>
                </a:endParaRPr>
              </a:p>
            </p:txBody>
          </p:sp>
          <p:grpSp>
            <p:nvGrpSpPr>
              <p:cNvPr id="23" name="그룹 22"/>
              <p:cNvGrpSpPr/>
              <p:nvPr/>
            </p:nvGrpSpPr>
            <p:grpSpPr>
              <a:xfrm>
                <a:off x="5024261" y="2683736"/>
                <a:ext cx="1108844" cy="1247429"/>
                <a:chOff x="5024262" y="2683737"/>
                <a:chExt cx="1108844" cy="1247429"/>
              </a:xfrm>
            </p:grpSpPr>
            <p:sp>
              <p:nvSpPr>
                <p:cNvPr id="25" name="object 12"/>
                <p:cNvSpPr/>
                <p:nvPr/>
              </p:nvSpPr>
              <p:spPr>
                <a:xfrm>
                  <a:off x="5024262" y="2683737"/>
                  <a:ext cx="822642" cy="90011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 wrap="square" lIns="0" tIns="0" rIns="0" bIns="0"/>
                <a:lstStyle/>
                <a:p>
                  <a:pPr lvl="0">
                    <a:defRPr/>
                  </a:pPr>
                  <a:endParaRPr sz="1300">
                    <a:latin typeface="KoPub돋움체 Bold"/>
                    <a:ea typeface="KoPub돋움체 Bold"/>
                  </a:endParaRPr>
                </a:p>
              </p:txBody>
            </p:sp>
            <p:sp>
              <p:nvSpPr>
                <p:cNvPr id="26" name="object 15"/>
                <p:cNvSpPr/>
                <p:nvPr/>
              </p:nvSpPr>
              <p:spPr>
                <a:xfrm>
                  <a:off x="5205626" y="2866262"/>
                  <a:ext cx="766779" cy="899067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  <p:txBody>
                <a:bodyPr wrap="square" lIns="0" tIns="0" rIns="0" bIns="0"/>
                <a:lstStyle/>
                <a:p>
                  <a:pPr lvl="0">
                    <a:defRPr/>
                  </a:pPr>
                  <a:endParaRPr sz="1300">
                    <a:latin typeface="KoPub돋움체 Bold"/>
                    <a:ea typeface="KoPub돋움체 Bold"/>
                  </a:endParaRPr>
                </a:p>
              </p:txBody>
            </p:sp>
            <p:sp>
              <p:nvSpPr>
                <p:cNvPr id="27" name="object 38"/>
                <p:cNvSpPr/>
                <p:nvPr/>
              </p:nvSpPr>
              <p:spPr>
                <a:xfrm>
                  <a:off x="5419895" y="3063389"/>
                  <a:ext cx="713211" cy="867777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 wrap="square" lIns="0" tIns="0" rIns="0" bIns="0"/>
                <a:lstStyle/>
                <a:p>
                  <a:pPr lvl="0">
                    <a:defRPr/>
                  </a:pPr>
                  <a:endParaRPr sz="1300">
                    <a:latin typeface="KoPub돋움체 Bold"/>
                    <a:ea typeface="KoPub돋움체 Bold"/>
                  </a:endParaRPr>
                </a:p>
              </p:txBody>
            </p:sp>
          </p:grpSp>
          <p:sp>
            <p:nvSpPr>
              <p:cNvPr id="24" name="object 39"/>
              <p:cNvSpPr/>
              <p:nvPr/>
            </p:nvSpPr>
            <p:spPr>
              <a:xfrm>
                <a:off x="5417472" y="3060087"/>
                <a:ext cx="718058" cy="874382"/>
              </a:xfrm>
              <a:custGeom>
                <a:avLst/>
                <a:gdLst/>
                <a:ahLst/>
                <a:cxnLst/>
                <a:rect l="l" t="t" r="r" b="b"/>
                <a:pathLst>
                  <a:path w="1430020" h="1277620">
                    <a:moveTo>
                      <a:pt x="0" y="1277493"/>
                    </a:moveTo>
                    <a:lnTo>
                      <a:pt x="1429893" y="1277493"/>
                    </a:lnTo>
                    <a:lnTo>
                      <a:pt x="1429893" y="0"/>
                    </a:lnTo>
                    <a:lnTo>
                      <a:pt x="0" y="0"/>
                    </a:lnTo>
                    <a:lnTo>
                      <a:pt x="0" y="1277493"/>
                    </a:lnTo>
                    <a:close/>
                  </a:path>
                </a:pathLst>
              </a:custGeom>
              <a:ln w="9524">
                <a:solidFill>
                  <a:srgbClr val="7E7E7E"/>
                </a:solidFill>
              </a:ln>
            </p:spPr>
            <p:txBody>
              <a:bodyPr wrap="square" lIns="0" tIns="0" rIns="0" bIns="0"/>
              <a:lstStyle/>
              <a:p>
                <a:pPr lvl="0">
                  <a:defRPr/>
                </a:pPr>
                <a:endParaRPr sz="1300">
                  <a:latin typeface="KoPub돋움체 Bold"/>
                  <a:ea typeface="KoPub돋움체 Bold"/>
                </a:endParaRPr>
              </a:p>
            </p:txBody>
          </p:sp>
        </p:grpSp>
        <p:grpSp>
          <p:nvGrpSpPr>
            <p:cNvPr id="28" name="그룹 27"/>
            <p:cNvGrpSpPr/>
            <p:nvPr/>
          </p:nvGrpSpPr>
          <p:grpSpPr>
            <a:xfrm>
              <a:off x="630834" y="2994151"/>
              <a:ext cx="5923857" cy="1011473"/>
              <a:chOff x="469405" y="8252012"/>
              <a:chExt cx="6986445" cy="860771"/>
            </a:xfrm>
          </p:grpSpPr>
          <p:sp>
            <p:nvSpPr>
              <p:cNvPr id="29" name="object 204"/>
              <p:cNvSpPr/>
              <p:nvPr/>
            </p:nvSpPr>
            <p:spPr>
              <a:xfrm>
                <a:off x="469410" y="8256572"/>
                <a:ext cx="1303405" cy="839091"/>
              </a:xfrm>
              <a:custGeom>
                <a:avLst/>
                <a:gdLst/>
                <a:ahLst/>
                <a:cxnLst/>
                <a:rect l="l" t="t" r="r" b="b"/>
                <a:pathLst>
                  <a:path w="6040120" h="1910079">
                    <a:moveTo>
                      <a:pt x="6039993" y="0"/>
                    </a:moveTo>
                    <a:lnTo>
                      <a:pt x="0" y="0"/>
                    </a:lnTo>
                    <a:lnTo>
                      <a:pt x="0" y="1909813"/>
                    </a:lnTo>
                    <a:lnTo>
                      <a:pt x="6039993" y="1909813"/>
                    </a:lnTo>
                    <a:lnTo>
                      <a:pt x="6039993" y="0"/>
                    </a:lnTo>
                    <a:close/>
                  </a:path>
                </a:pathLst>
              </a:custGeom>
              <a:solidFill>
                <a:srgbClr val="F1F1F1"/>
              </a:solidFill>
            </p:spPr>
            <p:txBody>
              <a:bodyPr wrap="square" lIns="0" tIns="0" rIns="0" bIns="0"/>
              <a:lstStyle/>
              <a:p>
                <a:pPr lvl="0">
                  <a:defRPr/>
                </a:pPr>
                <a:endParaRPr sz="1300">
                  <a:latin typeface="KoPub돋움체 Bold"/>
                  <a:ea typeface="KoPub돋움체 Bold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469405" y="8264667"/>
                <a:ext cx="1303408" cy="6371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4138" indent="-84138" algn="l">
                  <a:buFont typeface="Arial"/>
                  <a:buChar char="•"/>
                  <a:defRPr/>
                </a:pPr>
                <a:r>
                  <a:rPr lang="ko-KR" altLang="en-US" sz="1200">
                    <a:latin typeface="KoPub돋움체 Medium"/>
                    <a:ea typeface="KoPub돋움체 Medium"/>
                  </a:rPr>
                  <a:t>월별 극지방 변화데이터</a:t>
                </a:r>
                <a:r>
                  <a:rPr lang="en-US" altLang="ko-KR" sz="1200">
                    <a:latin typeface="KoPub돋움체 Medium"/>
                    <a:ea typeface="KoPub돋움체 Medium"/>
                  </a:rPr>
                  <a:t>,</a:t>
                </a:r>
                <a:r>
                  <a:rPr lang="ko-KR" altLang="en-US" sz="1200">
                    <a:latin typeface="KoPub돋움체 Medium"/>
                    <a:ea typeface="KoPub돋움체 Medium"/>
                  </a:rPr>
                  <a:t> 지구 온난화 데이터 수집 및 임포팅</a:t>
                </a:r>
              </a:p>
              <a:p>
                <a:pPr marL="84138" indent="-84138" algn="l">
                  <a:buFont typeface="Arial"/>
                  <a:buChar char="•"/>
                  <a:defRPr/>
                </a:pPr>
                <a:r>
                  <a:rPr lang="ko-KR" altLang="en-US" sz="1200">
                    <a:latin typeface="KoPub돋움체 Medium"/>
                    <a:ea typeface="KoPub돋움체 Medium"/>
                  </a:rPr>
                  <a:t>일자</a:t>
                </a:r>
                <a:r>
                  <a:rPr lang="en-US" altLang="ko-KR" sz="1200">
                    <a:latin typeface="KoPub돋움체 Medium"/>
                    <a:ea typeface="KoPub돋움체 Medium"/>
                  </a:rPr>
                  <a:t>, </a:t>
                </a:r>
                <a:r>
                  <a:rPr lang="ko-KR" altLang="en-US" sz="1200">
                    <a:latin typeface="KoPub돋움체 Medium"/>
                    <a:ea typeface="KoPub돋움체 Medium"/>
                  </a:rPr>
                  <a:t>날씨</a:t>
                </a:r>
                <a:r>
                  <a:rPr lang="en-US" altLang="ko-KR" sz="1200">
                    <a:latin typeface="KoPub돋움체 Medium"/>
                    <a:ea typeface="KoPub돋움체 Medium"/>
                  </a:rPr>
                  <a:t>, </a:t>
                </a:r>
                <a:r>
                  <a:rPr lang="ko-KR" altLang="en-US" sz="1200">
                    <a:latin typeface="KoPub돋움체 Medium"/>
                    <a:ea typeface="KoPub돋움체 Medium"/>
                  </a:rPr>
                  <a:t>온도</a:t>
                </a:r>
                <a:r>
                  <a:rPr lang="en-US" altLang="ko-KR" sz="1200">
                    <a:latin typeface="KoPub돋움체 Medium"/>
                    <a:ea typeface="KoPub돋움체 Medium"/>
                  </a:rPr>
                  <a:t>,</a:t>
                </a:r>
                <a:r>
                  <a:rPr lang="ko-KR" altLang="en-US" sz="1200">
                    <a:latin typeface="KoPub돋움체 Medium"/>
                    <a:ea typeface="KoPub돋움체 Medium"/>
                  </a:rPr>
                  <a:t> </a:t>
                </a:r>
                <a:r>
                  <a:rPr lang="en-US" altLang="ko-KR" sz="1200">
                    <a:latin typeface="KoPub돋움체 Medium"/>
                    <a:ea typeface="KoPub돋움체 Medium"/>
                  </a:rPr>
                  <a:t> </a:t>
                </a:r>
                <a:r>
                  <a:rPr lang="ko-KR" altLang="en-US" sz="1200">
                    <a:latin typeface="KoPub돋움체 Medium"/>
                    <a:ea typeface="KoPub돋움체 Medium"/>
                  </a:rPr>
                  <a:t>등 핵심변수 포함</a:t>
                </a:r>
              </a:p>
            </p:txBody>
          </p:sp>
          <p:sp>
            <p:nvSpPr>
              <p:cNvPr id="31" name="object 204"/>
              <p:cNvSpPr/>
              <p:nvPr/>
            </p:nvSpPr>
            <p:spPr>
              <a:xfrm>
                <a:off x="1883865" y="8263178"/>
                <a:ext cx="1303405" cy="839091"/>
              </a:xfrm>
              <a:custGeom>
                <a:avLst/>
                <a:gdLst/>
                <a:ahLst/>
                <a:cxnLst/>
                <a:rect l="l" t="t" r="r" b="b"/>
                <a:pathLst>
                  <a:path w="6040120" h="1910079">
                    <a:moveTo>
                      <a:pt x="6039993" y="0"/>
                    </a:moveTo>
                    <a:lnTo>
                      <a:pt x="0" y="0"/>
                    </a:lnTo>
                    <a:lnTo>
                      <a:pt x="0" y="1909813"/>
                    </a:lnTo>
                    <a:lnTo>
                      <a:pt x="6039993" y="1909813"/>
                    </a:lnTo>
                    <a:lnTo>
                      <a:pt x="6039993" y="0"/>
                    </a:lnTo>
                    <a:close/>
                  </a:path>
                </a:pathLst>
              </a:custGeom>
              <a:solidFill>
                <a:srgbClr val="F1F1F1"/>
              </a:solidFill>
            </p:spPr>
            <p:txBody>
              <a:bodyPr wrap="square" lIns="0" tIns="0" rIns="0" bIns="0"/>
              <a:lstStyle/>
              <a:p>
                <a:pPr lvl="0">
                  <a:defRPr/>
                </a:pPr>
                <a:endParaRPr sz="1300">
                  <a:latin typeface="KoPub돋움체 Bold"/>
                  <a:ea typeface="KoPub돋움체 Bold"/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1853910" y="8273069"/>
                <a:ext cx="1354004" cy="8397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4138" indent="-84138" algn="l">
                  <a:buFont typeface="Arial"/>
                  <a:buChar char="•"/>
                  <a:defRPr/>
                </a:pPr>
                <a:r>
                  <a:rPr lang="ko-KR" altLang="en-US" sz="1200">
                    <a:latin typeface="KoPub돋움체 Medium"/>
                    <a:ea typeface="KoPub돋움체 Medium"/>
                  </a:rPr>
                  <a:t>변수별 상관관계 분석</a:t>
                </a:r>
              </a:p>
              <a:p>
                <a:pPr marL="84138" indent="-84138" algn="l">
                  <a:buFont typeface="Arial"/>
                  <a:buChar char="•"/>
                  <a:defRPr/>
                </a:pPr>
                <a:r>
                  <a:rPr lang="ko-KR" altLang="en-US" sz="1200">
                    <a:latin typeface="KoPub돋움체 Medium"/>
                    <a:ea typeface="KoPub돋움체 Medium"/>
                  </a:rPr>
                  <a:t>데이터 표준화 및 전처리</a:t>
                </a:r>
                <a:r>
                  <a:rPr lang="en-US" altLang="ko-KR" sz="1200">
                    <a:latin typeface="KoPub돋움체 Medium"/>
                    <a:ea typeface="KoPub돋움체 Medium"/>
                  </a:rPr>
                  <a:t>(</a:t>
                </a:r>
                <a:r>
                  <a:rPr lang="ko-KR" altLang="en-US" sz="1200">
                    <a:latin typeface="KoPub돋움체 Medium"/>
                    <a:ea typeface="KoPub돋움체 Medium"/>
                  </a:rPr>
                  <a:t>이상치</a:t>
                </a:r>
                <a:r>
                  <a:rPr lang="en-US" altLang="ko-KR" sz="1200">
                    <a:latin typeface="KoPub돋움체 Medium"/>
                    <a:ea typeface="KoPub돋움체 Medium"/>
                  </a:rPr>
                  <a:t>, </a:t>
                </a:r>
                <a:r>
                  <a:rPr lang="ko-KR" altLang="en-US" sz="1200">
                    <a:latin typeface="KoPub돋움체 Medium"/>
                    <a:ea typeface="KoPub돋움체 Medium"/>
                  </a:rPr>
                  <a:t>결측치 처리</a:t>
                </a:r>
                <a:r>
                  <a:rPr lang="en-US" altLang="ko-KR" sz="1200">
                    <a:latin typeface="KoPub돋움체 Medium"/>
                    <a:ea typeface="KoPub돋움체 Medium"/>
                  </a:rPr>
                  <a:t>)</a:t>
                </a:r>
              </a:p>
              <a:p>
                <a:pPr marL="84138" indent="-84138" algn="l">
                  <a:buFont typeface="Arial"/>
                  <a:buChar char="•"/>
                  <a:defRPr/>
                </a:pPr>
                <a:r>
                  <a:rPr lang="ko-KR" altLang="en-US" sz="1200">
                    <a:latin typeface="KoPub돋움체 Medium"/>
                    <a:ea typeface="KoPub돋움체 Medium"/>
                  </a:rPr>
                  <a:t>시계열 데이터를 고려하여 학습</a:t>
                </a:r>
                <a:r>
                  <a:rPr lang="en-US" altLang="ko-KR" sz="1200">
                    <a:latin typeface="KoPub돋움체 Medium"/>
                    <a:ea typeface="KoPub돋움체 Medium"/>
                  </a:rPr>
                  <a:t>, </a:t>
                </a:r>
                <a:r>
                  <a:rPr lang="ko-KR" altLang="en-US" sz="1200">
                    <a:latin typeface="KoPub돋움체 Medium"/>
                    <a:ea typeface="KoPub돋움체 Medium"/>
                  </a:rPr>
                  <a:t>테스트 데이터 분리</a:t>
                </a:r>
              </a:p>
            </p:txBody>
          </p:sp>
          <p:sp>
            <p:nvSpPr>
              <p:cNvPr id="33" name="object 204"/>
              <p:cNvSpPr/>
              <p:nvPr/>
            </p:nvSpPr>
            <p:spPr>
              <a:xfrm>
                <a:off x="3301148" y="8256572"/>
                <a:ext cx="1303405" cy="839091"/>
              </a:xfrm>
              <a:custGeom>
                <a:avLst/>
                <a:gdLst/>
                <a:ahLst/>
                <a:cxnLst/>
                <a:rect l="l" t="t" r="r" b="b"/>
                <a:pathLst>
                  <a:path w="6040120" h="1910079">
                    <a:moveTo>
                      <a:pt x="6039993" y="0"/>
                    </a:moveTo>
                    <a:lnTo>
                      <a:pt x="0" y="0"/>
                    </a:lnTo>
                    <a:lnTo>
                      <a:pt x="0" y="1909813"/>
                    </a:lnTo>
                    <a:lnTo>
                      <a:pt x="6039993" y="1909813"/>
                    </a:lnTo>
                    <a:lnTo>
                      <a:pt x="6039993" y="0"/>
                    </a:lnTo>
                    <a:close/>
                  </a:path>
                </a:pathLst>
              </a:custGeom>
              <a:solidFill>
                <a:srgbClr val="F1F1F1"/>
              </a:solidFill>
            </p:spPr>
            <p:txBody>
              <a:bodyPr wrap="square" lIns="0" tIns="0" rIns="0" bIns="0"/>
              <a:lstStyle/>
              <a:p>
                <a:pPr lvl="0">
                  <a:defRPr/>
                </a:pPr>
                <a:endParaRPr sz="1300">
                  <a:latin typeface="KoPub돋움체 Bold"/>
                  <a:ea typeface="KoPub돋움체 Bold"/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3301147" y="8264666"/>
                <a:ext cx="1303406" cy="7400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4138" indent="-84138" algn="l">
                  <a:buFont typeface="Arial"/>
                  <a:buChar char="•"/>
                  <a:defRPr/>
                </a:pPr>
                <a:r>
                  <a:rPr lang="ko-KR" altLang="en-US" sz="1200">
                    <a:latin typeface="KoPub돋움체 Medium"/>
                    <a:ea typeface="KoPub돋움체 Medium"/>
                  </a:rPr>
                  <a:t>모델 비교 및 최적 모델 도출</a:t>
                </a:r>
                <a:r>
                  <a:rPr lang="en-US" altLang="ko-KR" sz="1200">
                    <a:latin typeface="KoPub돋움체 Medium"/>
                    <a:ea typeface="KoPub돋움체 Medium"/>
                  </a:rPr>
                  <a:t>(ex. LSTM)</a:t>
                </a:r>
              </a:p>
              <a:p>
                <a:pPr marL="84138" indent="-84138" algn="l">
                  <a:buFont typeface="Arial"/>
                  <a:buChar char="•"/>
                  <a:defRPr/>
                </a:pPr>
                <a:r>
                  <a:rPr lang="ko-KR" altLang="en-US" sz="1200">
                    <a:latin typeface="KoPub돋움체 Medium"/>
                    <a:ea typeface="KoPub돋움체 Medium"/>
                  </a:rPr>
                  <a:t>시간적 추이</a:t>
                </a:r>
                <a:r>
                  <a:rPr lang="en-US" altLang="ko-KR" sz="1200">
                    <a:latin typeface="KoPub돋움체 Medium"/>
                    <a:ea typeface="KoPub돋움체 Medium"/>
                  </a:rPr>
                  <a:t>/</a:t>
                </a:r>
                <a:r>
                  <a:rPr lang="ko-KR" altLang="en-US" sz="1200">
                    <a:latin typeface="KoPub돋움체 Medium"/>
                    <a:ea typeface="KoPub돋움체 Medium"/>
                  </a:rPr>
                  <a:t>변화에 따른 추론이 가능한 시계열 모델 활용</a:t>
                </a:r>
              </a:p>
              <a:p>
                <a:pPr marL="84138" indent="-84138" algn="l">
                  <a:buFont typeface="Arial"/>
                  <a:buChar char="•"/>
                  <a:defRPr/>
                </a:pPr>
                <a:r>
                  <a:rPr lang="ko-KR" altLang="en-US" sz="1200">
                    <a:latin typeface="KoPub돋움체 Medium"/>
                    <a:ea typeface="KoPub돋움체 Medium"/>
                  </a:rPr>
                  <a:t>모델 정의 및 학습</a:t>
                </a:r>
              </a:p>
              <a:p>
                <a:pPr marL="84138" indent="-84138" algn="l">
                  <a:buFont typeface="Arial"/>
                  <a:buChar char="•"/>
                  <a:defRPr/>
                </a:pPr>
                <a:endParaRPr lang="ko-KR" altLang="en-US" sz="1200"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35" name="object 204"/>
              <p:cNvSpPr/>
              <p:nvPr/>
            </p:nvSpPr>
            <p:spPr>
              <a:xfrm>
                <a:off x="4715603" y="8263178"/>
                <a:ext cx="1303405" cy="839091"/>
              </a:xfrm>
              <a:custGeom>
                <a:avLst/>
                <a:gdLst/>
                <a:ahLst/>
                <a:cxnLst/>
                <a:rect l="l" t="t" r="r" b="b"/>
                <a:pathLst>
                  <a:path w="6040120" h="1910079">
                    <a:moveTo>
                      <a:pt x="6039993" y="0"/>
                    </a:moveTo>
                    <a:lnTo>
                      <a:pt x="0" y="0"/>
                    </a:lnTo>
                    <a:lnTo>
                      <a:pt x="0" y="1909813"/>
                    </a:lnTo>
                    <a:lnTo>
                      <a:pt x="6039993" y="1909813"/>
                    </a:lnTo>
                    <a:lnTo>
                      <a:pt x="6039993" y="0"/>
                    </a:lnTo>
                    <a:close/>
                  </a:path>
                </a:pathLst>
              </a:custGeom>
              <a:solidFill>
                <a:srgbClr val="F1F1F1"/>
              </a:solidFill>
            </p:spPr>
            <p:txBody>
              <a:bodyPr wrap="square" lIns="0" tIns="0" rIns="0" bIns="0"/>
              <a:lstStyle/>
              <a:p>
                <a:pPr lvl="0">
                  <a:defRPr/>
                </a:pPr>
                <a:endParaRPr sz="1300">
                  <a:latin typeface="KoPub돋움체 Bold"/>
                  <a:ea typeface="KoPub돋움체 Bold"/>
                </a:endParaRP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4715600" y="8271272"/>
                <a:ext cx="1303406" cy="244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4138" indent="-84138" algn="l">
                  <a:buFont typeface="Arial"/>
                  <a:buChar char="•"/>
                  <a:defRPr/>
                </a:pPr>
                <a:r>
                  <a:rPr lang="ko-KR" altLang="en-US" sz="1200">
                    <a:latin typeface="KoPub돋움체 Medium"/>
                    <a:ea typeface="KoPub돋움체 Medium"/>
                  </a:rPr>
                  <a:t>예측값 계산</a:t>
                </a:r>
              </a:p>
              <a:p>
                <a:pPr marL="84138" indent="-84138" algn="l">
                  <a:buFont typeface="Arial"/>
                  <a:buChar char="•"/>
                  <a:defRPr/>
                </a:pPr>
                <a:r>
                  <a:rPr lang="ko-KR" altLang="en-US" sz="1200">
                    <a:latin typeface="KoPub돋움체 Medium"/>
                    <a:ea typeface="KoPub돋움체 Medium"/>
                  </a:rPr>
                  <a:t>해수면 상승률 예측</a:t>
                </a:r>
              </a:p>
            </p:txBody>
          </p:sp>
          <p:sp>
            <p:nvSpPr>
              <p:cNvPr id="37" name="object 204"/>
              <p:cNvSpPr/>
              <p:nvPr/>
            </p:nvSpPr>
            <p:spPr>
              <a:xfrm>
                <a:off x="6138368" y="8252012"/>
                <a:ext cx="1303405" cy="839091"/>
              </a:xfrm>
              <a:custGeom>
                <a:avLst/>
                <a:gdLst/>
                <a:ahLst/>
                <a:cxnLst/>
                <a:rect l="l" t="t" r="r" b="b"/>
                <a:pathLst>
                  <a:path w="6040120" h="1910079">
                    <a:moveTo>
                      <a:pt x="6039993" y="0"/>
                    </a:moveTo>
                    <a:lnTo>
                      <a:pt x="0" y="0"/>
                    </a:lnTo>
                    <a:lnTo>
                      <a:pt x="0" y="1909813"/>
                    </a:lnTo>
                    <a:lnTo>
                      <a:pt x="6039993" y="1909813"/>
                    </a:lnTo>
                    <a:lnTo>
                      <a:pt x="6039993" y="0"/>
                    </a:lnTo>
                    <a:close/>
                  </a:path>
                </a:pathLst>
              </a:custGeom>
              <a:solidFill>
                <a:srgbClr val="F1F1F1"/>
              </a:solidFill>
            </p:spPr>
            <p:txBody>
              <a:bodyPr wrap="square" lIns="0" tIns="0" rIns="0" bIns="0"/>
              <a:lstStyle/>
              <a:p>
                <a:pPr lvl="0">
                  <a:defRPr/>
                </a:pPr>
                <a:endParaRPr sz="1300">
                  <a:latin typeface="KoPub돋움체 Bold"/>
                  <a:ea typeface="KoPub돋움체 Bold"/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6114408" y="8260104"/>
                <a:ext cx="1341443" cy="8372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4138" indent="-84138" algn="l">
                  <a:buFont typeface="Arial"/>
                  <a:buChar char="•"/>
                  <a:defRPr/>
                </a:pPr>
                <a:r>
                  <a:rPr lang="ko-KR" altLang="en-US" sz="1200">
                    <a:latin typeface="KoPub돋움체 Medium"/>
                    <a:ea typeface="KoPub돋움체 Medium"/>
                  </a:rPr>
                  <a:t>지구 온난화</a:t>
                </a:r>
                <a:r>
                  <a:rPr lang="en-US" altLang="ko-KR" sz="1200">
                    <a:latin typeface="KoPub돋움체 Medium"/>
                    <a:ea typeface="KoPub돋움체 Medium"/>
                  </a:rPr>
                  <a:t>,</a:t>
                </a:r>
                <a:r>
                  <a:rPr lang="ko-KR" altLang="en-US" sz="1200">
                    <a:latin typeface="KoPub돋움체 Medium"/>
                    <a:ea typeface="KoPub돋움체 Medium"/>
                  </a:rPr>
                  <a:t> 극지방 빙하</a:t>
                </a:r>
                <a:r>
                  <a:rPr lang="en-US" altLang="ko-KR" sz="1200">
                    <a:latin typeface="KoPub돋움체 Medium"/>
                    <a:ea typeface="KoPub돋움체 Medium"/>
                  </a:rPr>
                  <a:t>,</a:t>
                </a:r>
                <a:r>
                  <a:rPr lang="ko-KR" altLang="en-US" sz="1200">
                    <a:latin typeface="KoPub돋움체 Medium"/>
                    <a:ea typeface="KoPub돋움체 Medium"/>
                  </a:rPr>
                  <a:t> 온도</a:t>
                </a:r>
                <a:r>
                  <a:rPr lang="en-US" altLang="ko-KR" sz="1200">
                    <a:latin typeface="KoPub돋움체 Medium"/>
                    <a:ea typeface="KoPub돋움체 Medium"/>
                  </a:rPr>
                  <a:t>,</a:t>
                </a:r>
                <a:r>
                  <a:rPr lang="ko-KR" altLang="en-US" sz="1200">
                    <a:latin typeface="KoPub돋움체 Medium"/>
                    <a:ea typeface="KoPub돋움체 Medium"/>
                  </a:rPr>
                  <a:t> 일산화탄소</a:t>
                </a:r>
                <a:r>
                  <a:rPr lang="en-US" altLang="ko-KR" sz="1200">
                    <a:latin typeface="KoPub돋움체 Medium"/>
                    <a:ea typeface="KoPub돋움체 Medium"/>
                  </a:rPr>
                  <a:t>,</a:t>
                </a:r>
                <a:r>
                  <a:rPr lang="ko-KR" altLang="en-US" sz="1200">
                    <a:latin typeface="KoPub돋움체 Medium"/>
                    <a:ea typeface="KoPub돋움체 Medium"/>
                  </a:rPr>
                  <a:t> 메탄 등 분석</a:t>
                </a:r>
              </a:p>
              <a:p>
                <a:pPr marL="84138" indent="-84138" algn="l">
                  <a:buFont typeface="Arial"/>
                  <a:buChar char="•"/>
                  <a:defRPr/>
                </a:pPr>
                <a:r>
                  <a:rPr lang="ko-KR" altLang="en-US" sz="1200">
                    <a:latin typeface="KoPub돋움체 Medium"/>
                    <a:ea typeface="KoPub돋움체 Medium"/>
                  </a:rPr>
                  <a:t>해수면 상승에 따른 기후 변화</a:t>
                </a:r>
                <a:r>
                  <a:rPr lang="en-US" altLang="ko-KR" sz="1200">
                    <a:latin typeface="KoPub돋움체 Medium"/>
                    <a:ea typeface="KoPub돋움체 Medium"/>
                  </a:rPr>
                  <a:t>,</a:t>
                </a:r>
                <a:r>
                  <a:rPr lang="ko-KR" altLang="en-US" sz="1200">
                    <a:latin typeface="KoPub돋움체 Medium"/>
                    <a:ea typeface="KoPub돋움체 Medium"/>
                  </a:rPr>
                  <a:t> 빙하 및 해빙 변화</a:t>
                </a:r>
                <a:r>
                  <a:rPr lang="en-US" altLang="ko-KR" sz="1200">
                    <a:latin typeface="KoPub돋움체 Medium"/>
                    <a:ea typeface="KoPub돋움체 Medium"/>
                  </a:rPr>
                  <a:t>,</a:t>
                </a:r>
                <a:r>
                  <a:rPr lang="ko-KR" altLang="en-US" sz="1200">
                    <a:latin typeface="KoPub돋움체 Medium"/>
                    <a:ea typeface="KoPub돋움체 Medium"/>
                  </a:rPr>
                  <a:t> 해수면 온도</a:t>
                </a:r>
                <a:r>
                  <a:rPr lang="en-US" altLang="ko-KR" sz="1200">
                    <a:latin typeface="KoPub돋움체 Medium"/>
                    <a:ea typeface="KoPub돋움체 Medium"/>
                  </a:rPr>
                  <a:t>,</a:t>
                </a:r>
                <a:r>
                  <a:rPr lang="ko-KR" altLang="en-US" sz="1200">
                    <a:latin typeface="KoPub돋움체 Medium"/>
                    <a:ea typeface="KoPub돋움체 Medium"/>
                  </a:rPr>
                  <a:t> 지구온난화 영향 분석</a:t>
                </a:r>
              </a:p>
            </p:txBody>
          </p:sp>
        </p:grpSp>
        <p:pic>
          <p:nvPicPr>
            <p:cNvPr id="39" name="그림 38"/>
            <p:cNvPicPr>
              <a:picLocks noChangeAspect="1"/>
            </p:cNvPicPr>
            <p:nvPr/>
          </p:nvPicPr>
          <p:blipFill rotWithShape="1">
            <a:blip r:embed="rId11"/>
            <a:stretch>
              <a:fillRect/>
            </a:stretch>
          </p:blipFill>
          <p:spPr>
            <a:xfrm>
              <a:off x="905271" y="1522517"/>
              <a:ext cx="823648" cy="839091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925737" y="1140096"/>
              <a:ext cx="1078531" cy="1855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300">
                  <a:solidFill>
                    <a:schemeClr val="tx2"/>
                  </a:solidFill>
                  <a:latin typeface="KoPub돋움체 Bold"/>
                  <a:ea typeface="KoPub돋움체 Bold"/>
                </a:rPr>
                <a:t>DATA</a:t>
              </a:r>
              <a:r>
                <a:rPr lang="ko-KR" altLang="en-US" sz="1300">
                  <a:solidFill>
                    <a:schemeClr val="tx2"/>
                  </a:solidFill>
                  <a:latin typeface="KoPub돋움체 Bold"/>
                  <a:ea typeface="KoPub돋움체 Bold"/>
                </a:rPr>
                <a:t> </a:t>
              </a:r>
              <a:r>
                <a:rPr lang="en-US" altLang="ko-KR" sz="1300">
                  <a:solidFill>
                    <a:schemeClr val="tx2"/>
                  </a:solidFill>
                  <a:latin typeface="KoPub돋움체 Bold"/>
                  <a:ea typeface="KoPub돋움체 Bold"/>
                </a:rPr>
                <a:t>IMPORTING</a:t>
              </a:r>
              <a:endParaRPr lang="ko-KR" altLang="en-US" sz="1300">
                <a:solidFill>
                  <a:schemeClr val="tx2"/>
                </a:solidFill>
                <a:latin typeface="KoPub돋움체 Bold"/>
                <a:ea typeface="KoPub돋움체 Bold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260753" y="1121944"/>
              <a:ext cx="934903" cy="1855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300">
                  <a:solidFill>
                    <a:schemeClr val="tx2"/>
                  </a:solidFill>
                  <a:latin typeface="KoPub돋움체 Bold"/>
                  <a:ea typeface="KoPub돋움체 Bold"/>
                </a:rPr>
                <a:t>USER INSIGHT</a:t>
              </a:r>
              <a:endParaRPr lang="ko-KR" altLang="en-US" sz="1300">
                <a:solidFill>
                  <a:schemeClr val="tx2"/>
                </a:solidFill>
                <a:latin typeface="KoPub돋움체 Bold"/>
                <a:ea typeface="KoPub돋움체 Bold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995316" y="1124741"/>
              <a:ext cx="1169931" cy="1855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300">
                  <a:solidFill>
                    <a:schemeClr val="tx2"/>
                  </a:solidFill>
                  <a:latin typeface="KoPub돋움체 Bold"/>
                  <a:ea typeface="KoPub돋움체 Bold"/>
                </a:rPr>
                <a:t>AUTO PREDICTION</a:t>
              </a:r>
              <a:endParaRPr lang="ko-KR" altLang="en-US" sz="1300">
                <a:solidFill>
                  <a:schemeClr val="tx2"/>
                </a:solidFill>
                <a:latin typeface="KoPub돋움체 Bold"/>
                <a:ea typeface="KoPub돋움체 Bold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185766" y="2226558"/>
              <a:ext cx="823914" cy="1855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ko-KR" altLang="en-US" sz="1300">
                  <a:latin typeface="KoPub돋움체 Bold"/>
                  <a:ea typeface="KoPub돋움체 Bold"/>
                </a:rPr>
                <a:t>데이터 전처리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223818" y="2226558"/>
              <a:ext cx="458310" cy="1855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ko-KR" altLang="en-US" sz="1300">
                  <a:latin typeface="KoPub돋움체 Bold"/>
                  <a:ea typeface="KoPub돋움체 Bold"/>
                </a:rPr>
                <a:t>모델링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307571" y="2226556"/>
              <a:ext cx="340796" cy="1855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ko-KR" altLang="en-US" sz="1300">
                  <a:latin typeface="KoPub돋움체 Bold"/>
                  <a:ea typeface="KoPub돋움체 Bold"/>
                </a:rPr>
                <a:t>예측</a:t>
              </a:r>
            </a:p>
          </p:txBody>
        </p:sp>
        <p:sp>
          <p:nvSpPr>
            <p:cNvPr id="46" name="object 135"/>
            <p:cNvSpPr/>
            <p:nvPr/>
          </p:nvSpPr>
          <p:spPr>
            <a:xfrm>
              <a:off x="5732627" y="2501505"/>
              <a:ext cx="74600" cy="77495"/>
            </a:xfrm>
            <a:prstGeom prst="rect">
              <a:avLst/>
            </a:prstGeom>
            <a:blipFill rotWithShape="1">
              <a:blip r:embed="rId12"/>
              <a:stretch>
                <a:fillRect/>
              </a:stretch>
            </a:blipFill>
          </p:spPr>
          <p:txBody>
            <a:bodyPr wrap="square" lIns="0" tIns="0" rIns="0" bIns="0"/>
            <a:lstStyle/>
            <a:p>
              <a:pPr lvl="0">
                <a:defRPr/>
              </a:pPr>
              <a:endParaRPr sz="1300">
                <a:latin typeface="KoPub돋움체 Bold"/>
                <a:ea typeface="KoPub돋움체 Bold"/>
              </a:endParaRPr>
            </a:p>
          </p:txBody>
        </p:sp>
        <p:sp>
          <p:nvSpPr>
            <p:cNvPr id="47" name="object 135"/>
            <p:cNvSpPr/>
            <p:nvPr/>
          </p:nvSpPr>
          <p:spPr>
            <a:xfrm>
              <a:off x="4443452" y="2508858"/>
              <a:ext cx="74600" cy="77495"/>
            </a:xfrm>
            <a:prstGeom prst="rect">
              <a:avLst/>
            </a:prstGeom>
            <a:blipFill rotWithShape="1">
              <a:blip r:embed="rId12"/>
              <a:stretch>
                <a:fillRect/>
              </a:stretch>
            </a:blipFill>
          </p:spPr>
          <p:txBody>
            <a:bodyPr wrap="square" lIns="0" tIns="0" rIns="0" bIns="0"/>
            <a:lstStyle/>
            <a:p>
              <a:pPr lvl="0">
                <a:defRPr/>
              </a:pPr>
              <a:endParaRPr sz="1300">
                <a:latin typeface="KoPub돋움체 Bold"/>
                <a:ea typeface="KoPub돋움체 Bold"/>
              </a:endParaRPr>
            </a:p>
          </p:txBody>
        </p:sp>
        <p:sp>
          <p:nvSpPr>
            <p:cNvPr id="48" name="object 135"/>
            <p:cNvSpPr/>
            <p:nvPr/>
          </p:nvSpPr>
          <p:spPr>
            <a:xfrm>
              <a:off x="3393859" y="2510345"/>
              <a:ext cx="74600" cy="77495"/>
            </a:xfrm>
            <a:prstGeom prst="rect">
              <a:avLst/>
            </a:prstGeom>
            <a:blipFill rotWithShape="1">
              <a:blip r:embed="rId12"/>
              <a:stretch>
                <a:fillRect/>
              </a:stretch>
            </a:blipFill>
          </p:spPr>
          <p:txBody>
            <a:bodyPr wrap="square" lIns="0" tIns="0" rIns="0" bIns="0"/>
            <a:lstStyle/>
            <a:p>
              <a:pPr lvl="0">
                <a:defRPr/>
              </a:pPr>
              <a:endParaRPr sz="1300">
                <a:latin typeface="KoPub돋움체 Bold"/>
                <a:ea typeface="KoPub돋움체 Bold"/>
              </a:endParaRPr>
            </a:p>
          </p:txBody>
        </p:sp>
        <p:sp>
          <p:nvSpPr>
            <p:cNvPr id="49" name="object 135"/>
            <p:cNvSpPr/>
            <p:nvPr/>
          </p:nvSpPr>
          <p:spPr>
            <a:xfrm>
              <a:off x="2453712" y="2505739"/>
              <a:ext cx="74600" cy="77495"/>
            </a:xfrm>
            <a:prstGeom prst="rect">
              <a:avLst/>
            </a:prstGeom>
            <a:blipFill rotWithShape="1">
              <a:blip r:embed="rId12"/>
              <a:stretch>
                <a:fillRect/>
              </a:stretch>
            </a:blipFill>
          </p:spPr>
          <p:txBody>
            <a:bodyPr wrap="square" lIns="0" tIns="0" rIns="0" bIns="0"/>
            <a:lstStyle/>
            <a:p>
              <a:pPr lvl="0">
                <a:defRPr/>
              </a:pPr>
              <a:endParaRPr sz="1300">
                <a:latin typeface="KoPub돋움체 Bold"/>
                <a:ea typeface="KoPub돋움체 Bold"/>
              </a:endParaRPr>
            </a:p>
          </p:txBody>
        </p:sp>
        <p:sp>
          <p:nvSpPr>
            <p:cNvPr id="50" name="object 135"/>
            <p:cNvSpPr/>
            <p:nvPr/>
          </p:nvSpPr>
          <p:spPr>
            <a:xfrm>
              <a:off x="1283368" y="2491409"/>
              <a:ext cx="74600" cy="77495"/>
            </a:xfrm>
            <a:prstGeom prst="rect">
              <a:avLst/>
            </a:prstGeom>
            <a:blipFill rotWithShape="1">
              <a:blip r:embed="rId12"/>
              <a:stretch>
                <a:fillRect/>
              </a:stretch>
            </a:blipFill>
          </p:spPr>
          <p:txBody>
            <a:bodyPr wrap="square" lIns="0" tIns="0" rIns="0" bIns="0"/>
            <a:lstStyle/>
            <a:p>
              <a:pPr lvl="0">
                <a:defRPr/>
              </a:pPr>
              <a:endParaRPr sz="1300">
                <a:latin typeface="KoPub돋움체 Bold"/>
                <a:ea typeface="KoPub돋움체 Bold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/>
          <p:cNvSpPr txBox="1">
            <a:spLocks noChangeArrowheads="1"/>
          </p:cNvSpPr>
          <p:nvPr/>
        </p:nvSpPr>
        <p:spPr>
          <a:xfrm>
            <a:off x="272480" y="180132"/>
            <a:ext cx="3381310" cy="38946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2000">
                <a:latin typeface="KoPub돋움체 Bold"/>
                <a:ea typeface="KoPub돋움체 Bold"/>
              </a:rPr>
              <a:t>4. </a:t>
            </a:r>
            <a:r>
              <a:rPr lang="ko-KR" altLang="en-US" sz="2000">
                <a:latin typeface="KoPub돋움체 Bold"/>
                <a:ea typeface="KoPub돋움체 Bold"/>
              </a:rPr>
              <a:t>주요 결과물 </a:t>
            </a:r>
            <a:r>
              <a:rPr lang="en-US" altLang="ko-KR" sz="2000">
                <a:latin typeface="KoPub돋움체 Bold"/>
                <a:ea typeface="KoPub돋움체 Bold"/>
              </a:rPr>
              <a:t>– </a:t>
            </a:r>
            <a:r>
              <a:rPr lang="ko-KR" altLang="en-US" sz="2000">
                <a:latin typeface="KoPub돋움체 Bold"/>
                <a:ea typeface="KoPub돋움체 Bold"/>
              </a:rPr>
              <a:t>데이터 수집</a:t>
            </a:r>
          </a:p>
        </p:txBody>
      </p:sp>
      <p:sp>
        <p:nvSpPr>
          <p:cNvPr id="6" name="모서리가 둥근 직사각형 46"/>
          <p:cNvSpPr/>
          <p:nvPr/>
        </p:nvSpPr>
        <p:spPr>
          <a:xfrm>
            <a:off x="395857" y="950176"/>
            <a:ext cx="4087283" cy="533400"/>
          </a:xfrm>
          <a:prstGeom prst="roundRect">
            <a:avLst>
              <a:gd name="adj" fmla="val 50000"/>
            </a:avLst>
          </a:prstGeom>
          <a:solidFill>
            <a:srgbClr val="005094"/>
          </a:solidFill>
          <a:ln w="28575" cap="flat" cmpd="sng" algn="ctr">
            <a:noFill/>
            <a:prstDash val="solid"/>
            <a:miter/>
          </a:ln>
          <a:effectLst/>
        </p:spPr>
        <p:txBody>
          <a:bodyPr anchor="ctr"/>
          <a:lstStyle/>
          <a:p>
            <a:pPr marL="0" marR="0" lvl="0" indent="0" defTabSz="4572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800" b="0" i="0" u="none" strike="noStrike" kern="0" cap="none" spc="0" normalizeH="0" baseline="0">
                <a:solidFill>
                  <a:prstClr val="white"/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데이터 수집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520" y="1733550"/>
            <a:ext cx="8493716" cy="733425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marL="180975" indent="-180975"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buFont typeface="Arial"/>
              <a:buChar char="•"/>
              <a:defRPr/>
            </a:pPr>
            <a:r>
              <a:rPr kumimoji="0" lang="en-US" altLang="ko-KR" sz="1600" b="0" spc="-9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Kaggle</a:t>
            </a:r>
            <a:r>
              <a:rPr kumimoji="0" lang="ko-KR" altLang="en-US" sz="1600" b="0" spc="-9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 데이터</a:t>
            </a:r>
            <a:r>
              <a:rPr kumimoji="0" lang="en-US" altLang="ko-KR" sz="1600" b="0" spc="-9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(</a:t>
            </a:r>
            <a:r>
              <a:rPr kumimoji="0" lang="ko-KR" altLang="en-US" sz="1600" b="0" spc="-9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엑셀</a:t>
            </a:r>
            <a:r>
              <a:rPr kumimoji="0" lang="en-US" altLang="ko-KR" sz="1600" b="0" spc="-9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) : 1880/01 ~ 2024/01</a:t>
            </a:r>
          </a:p>
          <a:p>
            <a:pPr marL="0" indent="0"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buFont typeface="Arial"/>
              <a:buNone/>
              <a:defRPr/>
            </a:pPr>
            <a:endParaRPr kumimoji="0" lang="en-US" altLang="ko-KR" sz="1600" b="0" spc="-90">
              <a:solidFill>
                <a:prstClr val="black">
                  <a:lumMod val="95000"/>
                  <a:lumOff val="5000"/>
                </a:prstClr>
              </a:solidFill>
              <a:latin typeface="KoPub돋움체 Bold"/>
              <a:ea typeface="KoPub돋움체 Bold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72480" y="2276872"/>
            <a:ext cx="9289032" cy="40388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3F6E-029B-3ABD-C963-C6B06F0A8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>
            <a:extLst>
              <a:ext uri="{FF2B5EF4-FFF2-40B4-BE49-F238E27FC236}">
                <a16:creationId xmlns:a16="http://schemas.microsoft.com/office/drawing/2014/main" id="{6D596586-CAB3-EA12-951F-60AA31F6CC79}"/>
              </a:ext>
            </a:extLst>
          </p:cNvPr>
          <p:cNvSpPr txBox="1">
            <a:spLocks noChangeArrowheads="1"/>
          </p:cNvSpPr>
          <p:nvPr/>
        </p:nvSpPr>
        <p:spPr>
          <a:xfrm>
            <a:off x="272480" y="180132"/>
            <a:ext cx="3381310" cy="38946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2000">
                <a:latin typeface="KoPub돋움체 Bold"/>
                <a:ea typeface="KoPub돋움체 Bold"/>
              </a:rPr>
              <a:t>4. </a:t>
            </a:r>
            <a:r>
              <a:rPr lang="ko-KR" altLang="en-US" sz="2000">
                <a:latin typeface="KoPub돋움체 Bold"/>
                <a:ea typeface="KoPub돋움체 Bold"/>
              </a:rPr>
              <a:t>주요 결과물 </a:t>
            </a:r>
            <a:r>
              <a:rPr lang="en-US" altLang="ko-KR" sz="2000">
                <a:latin typeface="KoPub돋움체 Bold"/>
                <a:ea typeface="KoPub돋움체 Bold"/>
              </a:rPr>
              <a:t>– </a:t>
            </a:r>
            <a:r>
              <a:rPr lang="ko-KR" altLang="en-US" sz="2000">
                <a:latin typeface="KoPub돋움체 Bold"/>
                <a:ea typeface="KoPub돋움체 Bold"/>
              </a:rPr>
              <a:t>데이터 수집</a:t>
            </a:r>
          </a:p>
        </p:txBody>
      </p:sp>
      <p:sp>
        <p:nvSpPr>
          <p:cNvPr id="6" name="모서리가 둥근 직사각형 46">
            <a:extLst>
              <a:ext uri="{FF2B5EF4-FFF2-40B4-BE49-F238E27FC236}">
                <a16:creationId xmlns:a16="http://schemas.microsoft.com/office/drawing/2014/main" id="{BDC3A79F-DFC1-4953-2A21-B45AB6EF6E68}"/>
              </a:ext>
            </a:extLst>
          </p:cNvPr>
          <p:cNvSpPr/>
          <p:nvPr/>
        </p:nvSpPr>
        <p:spPr>
          <a:xfrm>
            <a:off x="395857" y="950176"/>
            <a:ext cx="4087283" cy="533400"/>
          </a:xfrm>
          <a:prstGeom prst="roundRect">
            <a:avLst>
              <a:gd name="adj" fmla="val 50000"/>
            </a:avLst>
          </a:prstGeom>
          <a:solidFill>
            <a:srgbClr val="005094"/>
          </a:solidFill>
          <a:ln w="28575" cap="flat" cmpd="sng" algn="ctr">
            <a:noFill/>
            <a:prstDash val="solid"/>
            <a:miter/>
          </a:ln>
          <a:effectLst/>
        </p:spPr>
        <p:txBody>
          <a:bodyPr anchor="ctr"/>
          <a:lstStyle/>
          <a:p>
            <a:pPr marL="0" marR="0" lvl="0" indent="0" defTabSz="4572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8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데이터 수집 </a:t>
            </a:r>
            <a:r>
              <a:rPr kumimoji="0" lang="en-US" altLang="ko-KR" sz="18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– </a:t>
            </a:r>
            <a:r>
              <a:rPr kumimoji="0" lang="ko-KR" altLang="en-US" sz="18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데이터 소개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F00F97-2694-AE04-AD3C-142620E4165A}"/>
              </a:ext>
            </a:extLst>
          </p:cNvPr>
          <p:cNvSpPr txBox="1"/>
          <p:nvPr/>
        </p:nvSpPr>
        <p:spPr>
          <a:xfrm>
            <a:off x="704528" y="2154516"/>
            <a:ext cx="8856984" cy="2548968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marL="342900" indent="-342900"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buFont typeface="Arial"/>
              <a:buAutoNum type="arabicPeriod"/>
              <a:defRPr/>
            </a:pPr>
            <a:r>
              <a:rPr kumimoji="0" lang="ko-KR" altLang="en-US" sz="1600" b="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시간데이터 </a:t>
            </a:r>
            <a:r>
              <a:rPr kumimoji="0" lang="en-US" altLang="ko-KR" sz="1600" b="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(Date)</a:t>
            </a:r>
          </a:p>
          <a:p>
            <a:pPr marL="342900" indent="-342900"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buFont typeface="Arial"/>
              <a:buAutoNum type="arabicPeriod"/>
              <a:defRPr/>
            </a:pPr>
            <a:r>
              <a:rPr kumimoji="0" lang="ko-KR" altLang="en-US" sz="1600" b="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해수면 변화 </a:t>
            </a:r>
            <a:r>
              <a:rPr kumimoji="0" lang="ko-KR" altLang="en-US" sz="16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데이터</a:t>
            </a:r>
            <a:endParaRPr kumimoji="0" lang="en-US" altLang="ko-KR" sz="1600" spc="-90" dirty="0">
              <a:solidFill>
                <a:prstClr val="black">
                  <a:lumMod val="95000"/>
                  <a:lumOff val="5000"/>
                </a:prstClr>
              </a:solidFill>
              <a:latin typeface="KoPub돋움체 Bold"/>
              <a:ea typeface="KoPub돋움체 Bold"/>
            </a:endParaRPr>
          </a:p>
          <a:p>
            <a:pPr marL="342900" indent="-342900"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buFont typeface="Arial"/>
              <a:buAutoNum type="arabicPeriod"/>
              <a:defRPr/>
            </a:pPr>
            <a:r>
              <a:rPr kumimoji="0" lang="ko-KR" altLang="en-US" sz="1600" b="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대기 중 온실가스</a:t>
            </a:r>
            <a:endParaRPr kumimoji="0" lang="en-US" altLang="ko-KR" sz="1600" b="0" spc="-90" dirty="0">
              <a:solidFill>
                <a:prstClr val="black">
                  <a:lumMod val="95000"/>
                  <a:lumOff val="5000"/>
                </a:prstClr>
              </a:solidFill>
              <a:latin typeface="KoPub돋움체 Bold"/>
              <a:ea typeface="KoPub돋움체 Bold"/>
            </a:endParaRPr>
          </a:p>
          <a:p>
            <a:pPr marL="342900" indent="-342900"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buFont typeface="Arial"/>
              <a:buAutoNum type="arabicPeriod"/>
              <a:defRPr/>
            </a:pPr>
            <a:r>
              <a:rPr kumimoji="0" lang="ko-KR" altLang="en-US" sz="16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기온 변화</a:t>
            </a:r>
            <a:endParaRPr kumimoji="0" lang="en-US" altLang="ko-KR" sz="1600" spc="-90" dirty="0">
              <a:solidFill>
                <a:prstClr val="black">
                  <a:lumMod val="95000"/>
                  <a:lumOff val="5000"/>
                </a:prstClr>
              </a:solidFill>
              <a:latin typeface="KoPub돋움체 Bold"/>
              <a:ea typeface="KoPub돋움체 Bold"/>
            </a:endParaRPr>
          </a:p>
          <a:p>
            <a:pPr marL="342900" indent="-342900"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buFont typeface="Arial"/>
              <a:buAutoNum type="arabicPeriod"/>
              <a:defRPr/>
            </a:pPr>
            <a:r>
              <a:rPr kumimoji="0" lang="ko-KR" altLang="en-US" sz="16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해수 온도 변화</a:t>
            </a:r>
            <a:endParaRPr kumimoji="0" lang="en-US" altLang="ko-KR" sz="1600" spc="-90" dirty="0">
              <a:solidFill>
                <a:prstClr val="black">
                  <a:lumMod val="95000"/>
                  <a:lumOff val="5000"/>
                </a:prstClr>
              </a:solidFill>
              <a:latin typeface="KoPub돋움체 Bold"/>
              <a:ea typeface="KoPub돋움체 Bold"/>
            </a:endParaRPr>
          </a:p>
          <a:p>
            <a:pPr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defRPr/>
            </a:pPr>
            <a:r>
              <a:rPr kumimoji="0" lang="ko-KR" altLang="en-US" sz="16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총 </a:t>
            </a:r>
            <a:r>
              <a:rPr kumimoji="0" lang="en-US" altLang="ko-KR" sz="16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23</a:t>
            </a:r>
            <a:r>
              <a:rPr kumimoji="0" lang="ko-KR" altLang="en-US" sz="16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가지 데이터셋 중 </a:t>
            </a:r>
            <a:r>
              <a:rPr kumimoji="0" lang="en-US" altLang="ko-KR" sz="16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3</a:t>
            </a:r>
            <a:r>
              <a:rPr kumimoji="0" lang="ko-KR" altLang="en-US" sz="16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가지 컬럼을 없애고 </a:t>
            </a:r>
            <a:r>
              <a:rPr kumimoji="0" lang="en-US" altLang="ko-KR" sz="16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20</a:t>
            </a:r>
            <a:r>
              <a:rPr kumimoji="0" lang="ko-KR" altLang="en-US" sz="16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가지의 컬럼을 사용했습니다</a:t>
            </a:r>
            <a:r>
              <a:rPr kumimoji="0" lang="en-US" altLang="ko-KR" sz="16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</a:t>
            </a:r>
          </a:p>
          <a:p>
            <a:pPr marL="342900" indent="-342900"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buFont typeface="Arial"/>
              <a:buAutoNum type="arabicPeriod"/>
              <a:defRPr/>
            </a:pPr>
            <a:endParaRPr kumimoji="0" lang="en-US" altLang="ko-KR" sz="1600" spc="-90" dirty="0">
              <a:solidFill>
                <a:prstClr val="black">
                  <a:lumMod val="95000"/>
                  <a:lumOff val="5000"/>
                </a:prstClr>
              </a:solidFill>
              <a:latin typeface="KoPub돋움체 Bold"/>
              <a:ea typeface="KoPub돋움체 Bold"/>
            </a:endParaRPr>
          </a:p>
        </p:txBody>
      </p:sp>
    </p:spTree>
    <p:extLst>
      <p:ext uri="{BB962C8B-B14F-4D97-AF65-F5344CB8AC3E}">
        <p14:creationId xmlns:p14="http://schemas.microsoft.com/office/powerpoint/2010/main" val="3638735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D398F-6328-59CE-CD1F-1F0D57734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>
            <a:extLst>
              <a:ext uri="{FF2B5EF4-FFF2-40B4-BE49-F238E27FC236}">
                <a16:creationId xmlns:a16="http://schemas.microsoft.com/office/drawing/2014/main" id="{7C1A0C23-364F-1696-0030-4C112BD71751}"/>
              </a:ext>
            </a:extLst>
          </p:cNvPr>
          <p:cNvSpPr txBox="1">
            <a:spLocks noChangeArrowheads="1"/>
          </p:cNvSpPr>
          <p:nvPr/>
        </p:nvSpPr>
        <p:spPr>
          <a:xfrm>
            <a:off x="272480" y="180132"/>
            <a:ext cx="3381310" cy="38946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2000">
                <a:latin typeface="KoPub돋움체 Bold"/>
                <a:ea typeface="KoPub돋움체 Bold"/>
              </a:rPr>
              <a:t>4. </a:t>
            </a:r>
            <a:r>
              <a:rPr lang="ko-KR" altLang="en-US" sz="2000">
                <a:latin typeface="KoPub돋움체 Bold"/>
                <a:ea typeface="KoPub돋움체 Bold"/>
              </a:rPr>
              <a:t>주요 결과물 </a:t>
            </a:r>
            <a:r>
              <a:rPr lang="en-US" altLang="ko-KR" sz="2000">
                <a:latin typeface="KoPub돋움체 Bold"/>
                <a:ea typeface="KoPub돋움체 Bold"/>
              </a:rPr>
              <a:t>– </a:t>
            </a:r>
            <a:r>
              <a:rPr lang="ko-KR" altLang="en-US" sz="2000">
                <a:latin typeface="KoPub돋움체 Bold"/>
                <a:ea typeface="KoPub돋움체 Bold"/>
              </a:rPr>
              <a:t>데이터 수집</a:t>
            </a:r>
          </a:p>
        </p:txBody>
      </p:sp>
      <p:sp>
        <p:nvSpPr>
          <p:cNvPr id="6" name="모서리가 둥근 직사각형 46">
            <a:extLst>
              <a:ext uri="{FF2B5EF4-FFF2-40B4-BE49-F238E27FC236}">
                <a16:creationId xmlns:a16="http://schemas.microsoft.com/office/drawing/2014/main" id="{2A90C6A0-2982-8828-A0C3-CB743C3A8EEF}"/>
              </a:ext>
            </a:extLst>
          </p:cNvPr>
          <p:cNvSpPr/>
          <p:nvPr/>
        </p:nvSpPr>
        <p:spPr>
          <a:xfrm>
            <a:off x="395857" y="950176"/>
            <a:ext cx="4087283" cy="533400"/>
          </a:xfrm>
          <a:prstGeom prst="roundRect">
            <a:avLst>
              <a:gd name="adj" fmla="val 50000"/>
            </a:avLst>
          </a:prstGeom>
          <a:solidFill>
            <a:srgbClr val="005094"/>
          </a:solidFill>
          <a:ln w="28575" cap="flat" cmpd="sng" algn="ctr">
            <a:noFill/>
            <a:prstDash val="solid"/>
            <a:miter/>
          </a:ln>
          <a:effectLst/>
        </p:spPr>
        <p:txBody>
          <a:bodyPr anchor="ctr"/>
          <a:lstStyle/>
          <a:p>
            <a:pPr marL="0" marR="0" lvl="0" indent="0" defTabSz="4572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8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데이터 수집 </a:t>
            </a:r>
            <a:r>
              <a:rPr kumimoji="0" lang="en-US" altLang="ko-KR" sz="18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– </a:t>
            </a:r>
            <a:r>
              <a:rPr kumimoji="0" lang="ko-KR" altLang="en-US" sz="18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데이터 소개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C01111-FEDA-641A-B723-DFE3232B3546}"/>
              </a:ext>
            </a:extLst>
          </p:cNvPr>
          <p:cNvSpPr txBox="1"/>
          <p:nvPr/>
        </p:nvSpPr>
        <p:spPr>
          <a:xfrm>
            <a:off x="632520" y="1637392"/>
            <a:ext cx="8856984" cy="4581254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defRPr/>
            </a:pP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Date: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데이터를 수집한 날짜를 나타냅니다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시계열 데이터로 사용되며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,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분석에서 시간의 흐름을 고려할 수 있도록 합니다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</a:t>
            </a:r>
          </a:p>
          <a:p>
            <a:pPr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defRPr/>
            </a:pP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GMSL (Global Mean Sea Level):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전 세계 평균 해수면 높이를 나타내며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,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해수면 상승 정도를 평가하기 위한 주요 지표입니다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</a:t>
            </a:r>
          </a:p>
          <a:p>
            <a:pPr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defRPr/>
            </a:pP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CO2 conc. (Carbon Dioxide Concentration):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대기 중 이산화탄소 농도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(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일반적으로 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ppm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단위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)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로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,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기후 변화의 주요 원인 중 하나입니다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</a:t>
            </a:r>
          </a:p>
          <a:p>
            <a:pPr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defRPr/>
            </a:pP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CO2 emissions (Carbon Dioxide Emissions):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인간 활동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(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산업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,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운송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,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에너지 생산 등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)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에서 배출된 이산화탄소의 양입니다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</a:t>
            </a:r>
          </a:p>
          <a:p>
            <a:pPr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defRPr/>
            </a:pP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Long-run NO2 concentration: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장기적으로 관찰된 대기 중 이산화질소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(NO2)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농도를 나타냅니다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이는 대기 오염 및 건강에 영향을 미치는 주요 요소입니다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</a:t>
            </a:r>
          </a:p>
          <a:p>
            <a:pPr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defRPr/>
            </a:pP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Per-capita NO2 emissions in CO2 equivalents: 1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인당 이산화질소 배출량을 이산화탄소로 환산한 값입니다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</a:t>
            </a:r>
          </a:p>
          <a:p>
            <a:pPr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defRPr/>
            </a:pP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Long-run CH4 concentration: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장기적으로 관찰된 대기 중 메탄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(CH4)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농도로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,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온실가스 효과를 유발하는 주요 기체입니다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</a:t>
            </a:r>
          </a:p>
          <a:p>
            <a:pPr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defRPr/>
            </a:pP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Per-capita methane emissions in CO2 equivalents: 1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인당 메탄 배출량을 이산화탄소로 환산한 값입니다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</a:t>
            </a:r>
          </a:p>
          <a:p>
            <a:pPr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defRPr/>
            </a:pP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Global avg temp. anomaly relative to 1961-1990: 1961~1990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년 평균 기온에 대한 전 세계 평균 기온의 </a:t>
            </a:r>
            <a:r>
              <a:rPr kumimoji="0" lang="ko-KR" altLang="en-US" sz="1050" spc="-90" dirty="0" err="1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이상값으로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,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지구 온난화의 지표로 사용됩니다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</a:t>
            </a:r>
          </a:p>
          <a:p>
            <a:pPr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defRPr/>
            </a:pP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Sea surface temperature anomaly (relative to 1961-90 average): 1961~1990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년 평균에 대한 해수면 온도의 </a:t>
            </a:r>
            <a:r>
              <a:rPr kumimoji="0" lang="ko-KR" altLang="en-US" sz="1050" spc="-90" dirty="0" err="1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이상값입니다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이는 해양 온난화 정도를 나타냅니다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</a:t>
            </a:r>
          </a:p>
          <a:p>
            <a:pPr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defRPr/>
            </a:pP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Sea surface temperature anomaly (relative to 1961-90 average) trend: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해수면 온도 </a:t>
            </a:r>
            <a:r>
              <a:rPr kumimoji="0" lang="ko-KR" altLang="en-US" sz="1050" spc="-90" dirty="0" err="1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이상값의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 시간적 추세를 나타냅니다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</a:t>
            </a:r>
          </a:p>
          <a:p>
            <a:pPr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defRPr/>
            </a:pP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Sea surface temperature anomaly (relative to 1961-90 average) anomaly: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특정 시점에서의 해수면 온도 </a:t>
            </a:r>
            <a:r>
              <a:rPr kumimoji="0" lang="ko-KR" altLang="en-US" sz="1050" spc="-90" dirty="0" err="1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이상값으로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,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갑작스러운 변화나 패턴을 분석하는 데 유용합니다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</a:t>
            </a:r>
          </a:p>
          <a:p>
            <a:pPr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defRPr/>
            </a:pP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Nino 3.4 trend: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엘니뇨 또는 라니냐 패턴을 분석하는 데 사용되며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,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열대 태평양의 기온 변화 추세를 나타냅니다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</a:t>
            </a:r>
          </a:p>
          <a:p>
            <a:pPr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defRPr/>
            </a:pP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North Sea Ice Extent Avg: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북극해의 평균 해빙 면적을 나타냅니다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</a:t>
            </a:r>
          </a:p>
          <a:p>
            <a:pPr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defRPr/>
            </a:pP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North Sea Ice Extent Min: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북극해의 최소 해빙 면적을 나타냅니다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기후 변화의 영향을 분석하는 데 유용합니다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</a:t>
            </a:r>
          </a:p>
          <a:p>
            <a:pPr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defRPr/>
            </a:pP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South Sea Ice Extent Avg trend: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남극해 평균 해빙 면적의 시간적 추세를 나타냅니다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</a:t>
            </a:r>
          </a:p>
          <a:p>
            <a:pPr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defRPr/>
            </a:pP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South Sea Ice Extent Max: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남극해 최대 해빙 면적을 나타냅니다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</a:t>
            </a:r>
          </a:p>
          <a:p>
            <a:pPr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defRPr/>
            </a:pP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South Sea Ice Extent Max trend: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남극해 최대 해빙 면적의 시간적 추세를 나타냅니다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</a:t>
            </a:r>
          </a:p>
          <a:p>
            <a:pPr algn="l" defTabSz="4572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094"/>
              </a:buClr>
              <a:defRPr/>
            </a:pP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South Sea Ice Extent Min: </a:t>
            </a:r>
            <a:r>
              <a:rPr kumimoji="0" lang="ko-KR" altLang="en-US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남극해 최소 해빙 면적을 나타냅니다</a:t>
            </a:r>
            <a:r>
              <a:rPr kumimoji="0" lang="en-US" altLang="ko-KR" sz="105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2572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/>
          <p:cNvSpPr txBox="1">
            <a:spLocks noChangeArrowheads="1"/>
          </p:cNvSpPr>
          <p:nvPr/>
        </p:nvSpPr>
        <p:spPr>
          <a:xfrm>
            <a:off x="272480" y="180132"/>
            <a:ext cx="3381310" cy="389463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2000">
                <a:latin typeface="KoPub돋움체 Bold"/>
                <a:ea typeface="KoPub돋움체 Bold"/>
              </a:rPr>
              <a:t>4. </a:t>
            </a:r>
            <a:r>
              <a:rPr lang="ko-KR" altLang="en-US" sz="2000">
                <a:latin typeface="KoPub돋움체 Bold"/>
                <a:ea typeface="KoPub돋움체 Bold"/>
              </a:rPr>
              <a:t>주요 결과물 </a:t>
            </a:r>
            <a:r>
              <a:rPr lang="en-US" altLang="ko-KR" sz="2000">
                <a:latin typeface="KoPub돋움체 Bold"/>
                <a:ea typeface="KoPub돋움체 Bold"/>
              </a:rPr>
              <a:t>– </a:t>
            </a:r>
            <a:r>
              <a:rPr lang="ko-KR" altLang="en-US" sz="2000">
                <a:latin typeface="KoPub돋움체 Bold"/>
                <a:ea typeface="KoPub돋움체 Bold"/>
              </a:rPr>
              <a:t>데이터 분석</a:t>
            </a:r>
          </a:p>
        </p:txBody>
      </p:sp>
      <p:sp>
        <p:nvSpPr>
          <p:cNvPr id="6" name="모서리가 둥근 직사각형 46"/>
          <p:cNvSpPr/>
          <p:nvPr/>
        </p:nvSpPr>
        <p:spPr>
          <a:xfrm>
            <a:off x="417123" y="950176"/>
            <a:ext cx="4087283" cy="533400"/>
          </a:xfrm>
          <a:prstGeom prst="roundRect">
            <a:avLst>
              <a:gd name="adj" fmla="val 50000"/>
            </a:avLst>
          </a:prstGeom>
          <a:solidFill>
            <a:srgbClr val="005094"/>
          </a:solidFill>
          <a:ln w="28575" cap="flat" cmpd="sng" algn="ctr">
            <a:noFill/>
            <a:prstDash val="solid"/>
            <a:miter/>
          </a:ln>
          <a:effectLst/>
        </p:spPr>
        <p:txBody>
          <a:bodyPr anchor="ctr"/>
          <a:lstStyle/>
          <a:p>
            <a:pPr marL="0" marR="0" lvl="0" indent="0" defTabSz="4572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ko-KR" altLang="en-US" sz="18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해수면데이터 특성 중요도상위 </a:t>
            </a:r>
            <a:r>
              <a:rPr kumimoji="0" lang="en-US" altLang="ko-KR" sz="1800" b="0" i="0" u="none" strike="noStrike" kern="0" cap="none" spc="0" normalizeH="0" baseline="0" dirty="0">
                <a:solidFill>
                  <a:prstClr val="white"/>
                </a:solidFill>
                <a:effectLst/>
                <a:uLnTx/>
                <a:uFillTx/>
                <a:latin typeface="KoPub돋움체 Bold"/>
                <a:ea typeface="KoPub돋움체 Bold"/>
                <a:cs typeface="+mn-cs"/>
              </a:rPr>
              <a:t>10</a:t>
            </a:r>
            <a:r>
              <a:rPr kumimoji="0" lang="ko-KR" altLang="en-US" kern="0" dirty="0">
                <a:solidFill>
                  <a:prstClr val="white"/>
                </a:solidFill>
                <a:latin typeface="KoPub돋움체 Bold"/>
                <a:ea typeface="KoPub돋움체 Bold"/>
              </a:rPr>
              <a:t>개</a:t>
            </a:r>
            <a:endParaRPr kumimoji="0" lang="en-US" altLang="ko-KR" kern="0" dirty="0">
              <a:solidFill>
                <a:prstClr val="white"/>
              </a:solidFill>
              <a:latin typeface="KoPub돋움체 Bold"/>
              <a:ea typeface="KoPub돋움체 Bold"/>
            </a:endParaRPr>
          </a:p>
          <a:p>
            <a:pPr marL="0" marR="0" lvl="0" indent="0" defTabSz="45720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1800" b="0" spc="-90" dirty="0">
                <a:solidFill>
                  <a:schemeClr val="bg1"/>
                </a:solidFill>
                <a:latin typeface="KoPub돋움체 Bold"/>
                <a:ea typeface="KoPub돋움체 Bold"/>
              </a:rPr>
              <a:t>Future Important</a:t>
            </a:r>
            <a:endParaRPr kumimoji="0" lang="en-US" altLang="ko-KR" sz="1800" b="0" i="0" u="none" strike="noStrike" kern="0" cap="none" spc="0" normalizeH="0" baseline="0" dirty="0">
              <a:solidFill>
                <a:schemeClr val="bg1"/>
              </a:solidFill>
              <a:effectLst/>
              <a:uLnTx/>
              <a:uFillTx/>
              <a:latin typeface="KoPub돋움체 Bold"/>
              <a:ea typeface="KoPub돋움체 Bold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2922" y="2107414"/>
            <a:ext cx="3855684" cy="1547796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marL="180975" indent="-180975" algn="l" defTabSz="457200" latinLnBrk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5094"/>
              </a:buClr>
              <a:buFont typeface="Arial"/>
              <a:buChar char="•"/>
              <a:defRPr/>
            </a:pPr>
            <a:r>
              <a:rPr kumimoji="0" lang="ko-KR" altLang="en-US" sz="1300" b="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특성 간의 관계 파악</a:t>
            </a:r>
            <a:r>
              <a:rPr kumimoji="0" lang="en-US" altLang="ko-KR" sz="1300" b="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 :</a:t>
            </a: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 </a:t>
            </a: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데이터의 전반적인 구조 이해 및 모델 학습에 중요한 특성 식별</a:t>
            </a:r>
            <a:endParaRPr kumimoji="0" lang="ko-KR" altLang="en-US" sz="1300" b="0" spc="-90" dirty="0">
              <a:solidFill>
                <a:prstClr val="black">
                  <a:lumMod val="95000"/>
                  <a:lumOff val="5000"/>
                </a:prstClr>
              </a:solidFill>
              <a:latin typeface="KoPub돋움체 Bold"/>
              <a:ea typeface="KoPub돋움체 Bold"/>
            </a:endParaRPr>
          </a:p>
          <a:p>
            <a:pPr marL="180975" indent="-180975" algn="l" defTabSz="457200" latinLnBrk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5094"/>
              </a:buClr>
              <a:buFont typeface="Arial"/>
              <a:buChar char="•"/>
              <a:defRPr/>
            </a:pPr>
            <a:r>
              <a:rPr kumimoji="0" lang="ko-KR" altLang="en-US" sz="1300" spc="-90" dirty="0" err="1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다중공선성</a:t>
            </a: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 문제 진단 </a:t>
            </a: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: </a:t>
            </a: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높은 상관 관계를 보이는 특성들은 모델의 성능을 저하시키는 </a:t>
            </a:r>
            <a:r>
              <a:rPr kumimoji="0" lang="ko-KR" altLang="en-US" sz="1300" spc="-90" dirty="0" err="1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다중공선성</a:t>
            </a: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 문제를 방지</a:t>
            </a:r>
            <a:br>
              <a:rPr kumimoji="0" lang="en-US" altLang="ko-KR" sz="1300" b="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</a:br>
            <a:endParaRPr kumimoji="0" lang="en-US" altLang="ko-KR" sz="1300" b="0" spc="-90" dirty="0">
              <a:solidFill>
                <a:prstClr val="black">
                  <a:lumMod val="95000"/>
                  <a:lumOff val="5000"/>
                </a:prstClr>
              </a:solidFill>
              <a:latin typeface="KoPub돋움체 Bold"/>
              <a:ea typeface="KoPub돋움체 Bold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60912" y="1628800"/>
            <a:ext cx="5112568" cy="47525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BC740-09C8-687A-5522-B449FC753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F98D167-72FE-AE37-21DC-057A3F34F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880" y="656692"/>
            <a:ext cx="5632698" cy="5544616"/>
          </a:xfrm>
          <a:prstGeom prst="rect">
            <a:avLst/>
          </a:prstGeom>
        </p:spPr>
      </p:pic>
      <p:sp>
        <p:nvSpPr>
          <p:cNvPr id="2" name="TextBox 34">
            <a:extLst>
              <a:ext uri="{FF2B5EF4-FFF2-40B4-BE49-F238E27FC236}">
                <a16:creationId xmlns:a16="http://schemas.microsoft.com/office/drawing/2014/main" id="{50AC48AB-C364-76E0-0C53-BEB261238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180132"/>
            <a:ext cx="314701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4.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주요 결과물 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데이터 분석</a:t>
            </a:r>
            <a:endParaRPr lang="ko-KR" altLang="en-US" sz="20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" name="모서리가 둥근 직사각형 46">
            <a:extLst>
              <a:ext uri="{FF2B5EF4-FFF2-40B4-BE49-F238E27FC236}">
                <a16:creationId xmlns:a16="http://schemas.microsoft.com/office/drawing/2014/main" id="{AE92FF83-05FE-2BEC-98CF-731172AA614E}"/>
              </a:ext>
            </a:extLst>
          </p:cNvPr>
          <p:cNvSpPr/>
          <p:nvPr/>
        </p:nvSpPr>
        <p:spPr>
          <a:xfrm>
            <a:off x="417123" y="950176"/>
            <a:ext cx="4087283" cy="533400"/>
          </a:xfrm>
          <a:prstGeom prst="roundRect">
            <a:avLst>
              <a:gd name="adj" fmla="val 50000"/>
            </a:avLst>
          </a:prstGeom>
          <a:solidFill>
            <a:srgbClr val="005094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kern="0" dirty="0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해수면 </a:t>
            </a:r>
            <a:r>
              <a:rPr kumimoji="0" lang="ko-KR" altLang="en-US" kern="0" dirty="0" err="1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상승율</a:t>
            </a:r>
            <a:r>
              <a:rPr kumimoji="0" lang="ko-KR" altLang="en-US" kern="0" dirty="0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데이터 상관관계</a:t>
            </a: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(Heatmap)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4367F0-72C2-CE33-0033-F442349EF4ED}"/>
              </a:ext>
            </a:extLst>
          </p:cNvPr>
          <p:cNvSpPr txBox="1"/>
          <p:nvPr/>
        </p:nvSpPr>
        <p:spPr>
          <a:xfrm>
            <a:off x="452641" y="1483576"/>
            <a:ext cx="4132046" cy="538730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  <a:contourClr>
                <a:schemeClr val="bg1"/>
              </a:contourClr>
            </a:sp3d>
          </a:bodyPr>
          <a:lstStyle/>
          <a:p>
            <a:pPr marL="180975" indent="-180975" algn="l" defTabSz="457200" fontAlgn="auto" latinLnBrk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5094"/>
              </a:buClr>
              <a:buFont typeface="Arial" pitchFamily="34" charset="0"/>
              <a:buChar char="•"/>
            </a:pP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EDA </a:t>
            </a: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히스토그램</a:t>
            </a: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kumimoji="0" lang="ko-KR" altLang="en-US" sz="1300" spc="-90" dirty="0" err="1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히트맵</a:t>
            </a: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변수별 분포를 토해 정규분포 여부</a:t>
            </a: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데이터 변환</a:t>
            </a: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(ex. </a:t>
            </a: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로그변환</a:t>
            </a: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 </a:t>
            </a: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필요성 및 변수 간 관계를 유추</a:t>
            </a:r>
            <a:endParaRPr kumimoji="0" lang="en-US" altLang="ko-KR" sz="1300" spc="-90" dirty="0">
              <a:solidFill>
                <a:prstClr val="black">
                  <a:lumMod val="95000"/>
                  <a:lumOff val="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l" defTabSz="457200" fontAlgn="auto" latinLnBrk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5094"/>
              </a:buClr>
            </a:pP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전력량</a:t>
            </a: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약품사용량에 영향을 미치는 요인 분석</a:t>
            </a:r>
            <a:b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 </a:t>
            </a: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중요 변수 </a:t>
            </a: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해수면 변화</a:t>
            </a: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대기 중 온실가스</a:t>
            </a: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기온 변화</a:t>
            </a: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해수 온도 변화 등</a:t>
            </a:r>
            <a:b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endParaRPr kumimoji="0" lang="en-US" altLang="ko-KR" sz="1300" spc="-90" dirty="0">
              <a:solidFill>
                <a:prstClr val="black">
                  <a:lumMod val="95000"/>
                  <a:lumOff val="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l" defTabSz="457200" fontAlgn="auto" latinLnBrk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5094"/>
              </a:buClr>
            </a:pP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분석 결과 </a:t>
            </a: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</a:t>
            </a:r>
          </a:p>
          <a:p>
            <a:pPr algn="l" defTabSz="457200" fontAlgn="auto" latinLnBrk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5094"/>
              </a:buClr>
            </a:pP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다양한 변수들 사이에서 몇 가지 뚜렷한 상관 관계가 나타났습니다</a:t>
            </a: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marL="285750" indent="-285750" algn="l" defTabSz="457200" fontAlgn="auto" latinLnBrk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5094"/>
              </a:buClr>
              <a:buFont typeface="Arial" panose="020B0604020202020204" pitchFamily="34" charset="0"/>
              <a:buChar char="•"/>
            </a:pP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온실가스 농도 및 기온 관련 변수 </a:t>
            </a: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</a:t>
            </a: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서로 강한 양의 상관 관계가 보임</a:t>
            </a: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함께 증가하거나 감소하는 경향이 있음</a:t>
            </a: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marL="285750" indent="-285750" algn="l" defTabSz="457200" fontAlgn="auto" latinLnBrk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5094"/>
              </a:buClr>
              <a:buFont typeface="Arial" panose="020B0604020202020204" pitchFamily="34" charset="0"/>
              <a:buChar char="•"/>
            </a:pP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해빙 면적 관련 변수 </a:t>
            </a: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양의 상관 관계가 보임</a:t>
            </a: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지구 온난화가 진행됨에 따라 해빙 면적이 감소하는 경향이 있음</a:t>
            </a: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marL="285750" indent="-285750" algn="l" defTabSz="457200" fontAlgn="auto" latinLnBrk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5094"/>
              </a:buClr>
              <a:buFont typeface="Arial" panose="020B0604020202020204" pitchFamily="34" charset="0"/>
              <a:buChar char="•"/>
            </a:pP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특정 변수 간의 약한 상관 관계 </a:t>
            </a: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0</a:t>
            </a: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에 가까울 수록 상관 관계가 약함</a:t>
            </a: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algn="l" defTabSz="457200" fontAlgn="auto" latinLnBrk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5094"/>
              </a:buClr>
            </a:pPr>
            <a:endParaRPr kumimoji="0" lang="en-US" altLang="ko-KR" sz="1300" spc="-90" dirty="0">
              <a:solidFill>
                <a:prstClr val="black">
                  <a:lumMod val="95000"/>
                  <a:lumOff val="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l" defTabSz="457200" fontAlgn="auto" latinLnBrk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5094"/>
              </a:buClr>
            </a:pP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5532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83054-98DB-1093-4552-3A45AC9D6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>
            <a:extLst>
              <a:ext uri="{FF2B5EF4-FFF2-40B4-BE49-F238E27FC236}">
                <a16:creationId xmlns:a16="http://schemas.microsoft.com/office/drawing/2014/main" id="{A420F203-F29F-C6CE-822D-75C9FD722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180132"/>
            <a:ext cx="45624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4.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주요 결과물 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탐색적 데이터 분석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(EDA)</a:t>
            </a:r>
            <a:endParaRPr lang="ko-KR" altLang="en-US" sz="20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" name="모서리가 둥근 직사각형 46">
            <a:extLst>
              <a:ext uri="{FF2B5EF4-FFF2-40B4-BE49-F238E27FC236}">
                <a16:creationId xmlns:a16="http://schemas.microsoft.com/office/drawing/2014/main" id="{FE4C3BC8-D704-F87C-C45C-404DDEE2865A}"/>
              </a:ext>
            </a:extLst>
          </p:cNvPr>
          <p:cNvSpPr/>
          <p:nvPr/>
        </p:nvSpPr>
        <p:spPr>
          <a:xfrm>
            <a:off x="417123" y="950176"/>
            <a:ext cx="4087283" cy="533400"/>
          </a:xfrm>
          <a:prstGeom prst="roundRect">
            <a:avLst>
              <a:gd name="adj" fmla="val 50000"/>
            </a:avLst>
          </a:prstGeom>
          <a:solidFill>
            <a:srgbClr val="005094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결측치 및 중복값 통계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67FEE78-B5F9-7FE2-B4DB-8441C804B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03" y="1772816"/>
            <a:ext cx="9106594" cy="364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760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A02BF-1AED-71EE-A460-A0F201803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>
            <a:extLst>
              <a:ext uri="{FF2B5EF4-FFF2-40B4-BE49-F238E27FC236}">
                <a16:creationId xmlns:a16="http://schemas.microsoft.com/office/drawing/2014/main" id="{5456D132-29F3-C2E3-5A52-DD3C6CCED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180132"/>
            <a:ext cx="45624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4.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주요 결과물 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탐색적 데이터 분석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(EDA)</a:t>
            </a:r>
            <a:endParaRPr lang="ko-KR" altLang="en-US" sz="20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" name="모서리가 둥근 직사각형 46">
            <a:extLst>
              <a:ext uri="{FF2B5EF4-FFF2-40B4-BE49-F238E27FC236}">
                <a16:creationId xmlns:a16="http://schemas.microsoft.com/office/drawing/2014/main" id="{45F6285D-D89F-A771-F45B-E16B26FA5593}"/>
              </a:ext>
            </a:extLst>
          </p:cNvPr>
          <p:cNvSpPr/>
          <p:nvPr/>
        </p:nvSpPr>
        <p:spPr>
          <a:xfrm>
            <a:off x="417123" y="950176"/>
            <a:ext cx="4087283" cy="533400"/>
          </a:xfrm>
          <a:prstGeom prst="roundRect">
            <a:avLst>
              <a:gd name="adj" fmla="val 50000"/>
            </a:avLst>
          </a:prstGeom>
          <a:solidFill>
            <a:srgbClr val="005094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주요 변수별 데이터 분포</a:t>
            </a:r>
            <a:r>
              <a:rPr kumimoji="0" lang="en-US" altLang="ko-K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(Histogram)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DF04FC6-5995-471B-2ED8-802CC002C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37" y="1525784"/>
            <a:ext cx="4562467" cy="203544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CF47F10-941C-1F85-3440-415CB41D1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427" y="1525784"/>
            <a:ext cx="4407836" cy="20354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BAA208-BB0F-9A4F-61AF-1BC3E2D99647}"/>
              </a:ext>
            </a:extLst>
          </p:cNvPr>
          <p:cNvSpPr txBox="1"/>
          <p:nvPr/>
        </p:nvSpPr>
        <p:spPr>
          <a:xfrm>
            <a:off x="848544" y="4077072"/>
            <a:ext cx="2952328" cy="138499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 그래프는 전 세계 해수면 </a:t>
            </a:r>
            <a:r>
              <a:rPr lang="ko-KR" altLang="en-US" sz="120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상승량</a:t>
            </a:r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데이터</a:t>
            </a:r>
            <a:r>
              <a:rPr lang="en-US" altLang="ko-KR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(GMSL)</a:t>
            </a:r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의 통계적 특성과 분포를 분석하는 데 사용됩니다</a:t>
            </a:r>
            <a:r>
              <a:rPr lang="en-US" altLang="ko-KR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0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음수값이</a:t>
            </a:r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많다는 점에서</a:t>
            </a:r>
            <a:r>
              <a:rPr lang="en-US" altLang="ko-KR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해수면이 감소하거나 변화의 기준점이 음수로 설정된 데이터임을 암시합니다</a:t>
            </a:r>
            <a:r>
              <a:rPr lang="en-US" altLang="ko-KR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 데이터를 통해 지구 온난화와 해양 변화의 영향을 더욱 명확히 이해할 수 있습니다</a:t>
            </a:r>
            <a:r>
              <a:rPr lang="en-US" altLang="ko-KR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endParaRPr lang="ko-KR" altLang="en-US" sz="12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5A2D6E-8D89-AB25-8150-5E9DFBDDEE3E}"/>
              </a:ext>
            </a:extLst>
          </p:cNvPr>
          <p:cNvSpPr txBox="1"/>
          <p:nvPr/>
        </p:nvSpPr>
        <p:spPr>
          <a:xfrm>
            <a:off x="5385048" y="4077072"/>
            <a:ext cx="3024336" cy="12003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 그래프는 실내 </a:t>
            </a:r>
            <a:r>
              <a:rPr lang="en-US" altLang="ko-KR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CO2 </a:t>
            </a:r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농도의 데이터 분포와 통계적 특징을 이해하는 데 유용합니다</a:t>
            </a:r>
            <a:r>
              <a:rPr lang="en-US" altLang="ko-KR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CO2 </a:t>
            </a:r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농도가 평균값 근처에 집중되어 있지만</a:t>
            </a:r>
            <a:r>
              <a:rPr lang="en-US" altLang="ko-KR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높은 농도가 기록된 경우도 있어 환기 시스템의 효율성을 점검하거나 </a:t>
            </a:r>
            <a:r>
              <a:rPr lang="ko-KR" altLang="en-US" sz="120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공기질</a:t>
            </a:r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개선이 필요한 구간을 식별할 수 있습니다</a:t>
            </a:r>
            <a:r>
              <a:rPr lang="en-US" altLang="ko-KR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endParaRPr lang="ko-KR" altLang="en-US" sz="12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6237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5C95C-26B4-D419-A94D-FB278DBB9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>
            <a:extLst>
              <a:ext uri="{FF2B5EF4-FFF2-40B4-BE49-F238E27FC236}">
                <a16:creationId xmlns:a16="http://schemas.microsoft.com/office/drawing/2014/main" id="{5D5BCFA6-F31B-1D82-A3A3-34CAB1481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180132"/>
            <a:ext cx="45624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4.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주요 결과물 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탐색적 데이터 분석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(EDA)</a:t>
            </a:r>
            <a:endParaRPr lang="ko-KR" altLang="en-US" sz="20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" name="모서리가 둥근 직사각형 46">
            <a:extLst>
              <a:ext uri="{FF2B5EF4-FFF2-40B4-BE49-F238E27FC236}">
                <a16:creationId xmlns:a16="http://schemas.microsoft.com/office/drawing/2014/main" id="{98983DDE-3474-3F47-446A-4D7C0249EA62}"/>
              </a:ext>
            </a:extLst>
          </p:cNvPr>
          <p:cNvSpPr/>
          <p:nvPr/>
        </p:nvSpPr>
        <p:spPr>
          <a:xfrm>
            <a:off x="417123" y="950176"/>
            <a:ext cx="4087283" cy="533400"/>
          </a:xfrm>
          <a:prstGeom prst="roundRect">
            <a:avLst>
              <a:gd name="adj" fmla="val 50000"/>
            </a:avLst>
          </a:prstGeom>
          <a:solidFill>
            <a:srgbClr val="005094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주요 변수별 데이터 분포</a:t>
            </a:r>
            <a:r>
              <a:rPr kumimoji="0" lang="en-US" altLang="ko-K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(Histogram)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B9C275F1-5447-359B-5F6E-EF0E04D47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151" y="1778403"/>
            <a:ext cx="4320480" cy="203544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53488C3E-489A-7FD9-295B-F41CF0D15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684" y="1762600"/>
            <a:ext cx="4562467" cy="20354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AB0F21-C64B-AFB6-5064-61479B3458A8}"/>
              </a:ext>
            </a:extLst>
          </p:cNvPr>
          <p:cNvSpPr txBox="1"/>
          <p:nvPr/>
        </p:nvSpPr>
        <p:spPr>
          <a:xfrm>
            <a:off x="848544" y="4077072"/>
            <a:ext cx="2952328" cy="175432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평균 농도</a:t>
            </a:r>
            <a:r>
              <a:rPr lang="en-US" altLang="ko-KR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NO2 </a:t>
            </a:r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농도의 평균값은 </a:t>
            </a:r>
            <a:r>
              <a:rPr lang="en-US" altLang="ko-KR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296.46</a:t>
            </a:r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으로</a:t>
            </a:r>
            <a:r>
              <a:rPr lang="en-US" altLang="ko-KR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대기 중 이산화질소의 전반적인 평균 수준을 나타냅니다</a:t>
            </a:r>
            <a:r>
              <a:rPr lang="en-US" altLang="ko-KR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장기 </a:t>
            </a:r>
            <a:r>
              <a:rPr lang="en-US" altLang="ko-KR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NO2 </a:t>
            </a:r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농도 데이터의 통계적 특성과 분포를 파악하는 데 초점이 맞춰졌습니다</a:t>
            </a:r>
            <a:r>
              <a:rPr lang="en-US" altLang="ko-KR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이를 통해 도시 환경의 대기 질 변화와 관련된 유용한 인사이트를 얻을 수 있었으며</a:t>
            </a:r>
            <a:r>
              <a:rPr lang="en-US" altLang="ko-KR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향후 정책 및 연구 개발에 중요한 기초 데이터로 활용할 수 있을 것입니다</a:t>
            </a:r>
            <a:r>
              <a:rPr lang="en-US" altLang="ko-KR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endParaRPr lang="ko-KR" altLang="en-US" sz="12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B52383-608C-A754-36FB-863656735132}"/>
              </a:ext>
            </a:extLst>
          </p:cNvPr>
          <p:cNvSpPr txBox="1"/>
          <p:nvPr/>
        </p:nvSpPr>
        <p:spPr>
          <a:xfrm>
            <a:off x="5385048" y="4077072"/>
            <a:ext cx="3024336" cy="212365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데이터 분포 패턴</a:t>
            </a:r>
            <a:r>
              <a:rPr lang="en-US" altLang="ko-KR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대부분의 배출량이 낮은 수준에 집중되었음을 통해</a:t>
            </a:r>
            <a:r>
              <a:rPr lang="en-US" altLang="ko-KR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다수의 데이터는 중소 규모의 배출원을 나타내는 것으로 추정됩니다</a:t>
            </a:r>
            <a:r>
              <a:rPr lang="en-US" altLang="ko-KR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그러나 </a:t>
            </a:r>
            <a:r>
              <a:rPr lang="ko-KR" altLang="en-US" sz="120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최고값은</a:t>
            </a:r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개별적으로 큰 배출원을 나타낼 수 있습니다</a:t>
            </a:r>
            <a:endParaRPr lang="en-US" altLang="ko-KR" sz="12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 그래프는 실내 </a:t>
            </a:r>
            <a:r>
              <a:rPr lang="en-US" altLang="ko-KR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CO2 </a:t>
            </a:r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농도의 데이터 분포와 통계적 특징을 이해하는 데 유용합니다</a:t>
            </a:r>
            <a:r>
              <a:rPr lang="en-US" altLang="ko-KR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CO2 </a:t>
            </a:r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농도가 평균값 근처에 집중되어 있지만</a:t>
            </a:r>
            <a:r>
              <a:rPr lang="en-US" altLang="ko-KR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높은 농도가 기록된 경우도 있어 환기 시스템의 효율성을 점검하거나 </a:t>
            </a:r>
            <a:r>
              <a:rPr lang="ko-KR" altLang="en-US" sz="120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공기질</a:t>
            </a:r>
            <a:r>
              <a:rPr lang="ko-KR" altLang="en-US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개선이 필요한 구간을 식별할 수 있습니다</a:t>
            </a:r>
            <a:r>
              <a:rPr lang="en-US" altLang="ko-KR" sz="1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endParaRPr lang="ko-KR" altLang="en-US" sz="12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516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292D1-D8D8-AF72-83E9-D1146927A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>
            <a:extLst>
              <a:ext uri="{FF2B5EF4-FFF2-40B4-BE49-F238E27FC236}">
                <a16:creationId xmlns:a16="http://schemas.microsoft.com/office/drawing/2014/main" id="{743DBBF5-C155-DED9-2F5E-5F81F3AE5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180132"/>
            <a:ext cx="45624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4.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주요 결과물 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탐색적 데이터 분석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(EDA)</a:t>
            </a:r>
            <a:endParaRPr lang="ko-KR" altLang="en-US" sz="20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" name="모서리가 둥근 직사각형 46">
            <a:extLst>
              <a:ext uri="{FF2B5EF4-FFF2-40B4-BE49-F238E27FC236}">
                <a16:creationId xmlns:a16="http://schemas.microsoft.com/office/drawing/2014/main" id="{A4B45092-F94F-E7EF-E211-92A5C070827F}"/>
              </a:ext>
            </a:extLst>
          </p:cNvPr>
          <p:cNvSpPr/>
          <p:nvPr/>
        </p:nvSpPr>
        <p:spPr>
          <a:xfrm>
            <a:off x="417123" y="950176"/>
            <a:ext cx="4087283" cy="533400"/>
          </a:xfrm>
          <a:prstGeom prst="roundRect">
            <a:avLst>
              <a:gd name="adj" fmla="val 50000"/>
            </a:avLst>
          </a:prstGeom>
          <a:solidFill>
            <a:srgbClr val="005094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kern="0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데이터 전처리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0A60615-6EE5-860B-CAE6-BCDF3F7D5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0" y="2132856"/>
            <a:ext cx="4202427" cy="9526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EF1080-9BF0-0BE3-1603-22F0AE5B53E5}"/>
              </a:ext>
            </a:extLst>
          </p:cNvPr>
          <p:cNvSpPr txBox="1"/>
          <p:nvPr/>
        </p:nvSpPr>
        <p:spPr>
          <a:xfrm>
            <a:off x="648722" y="3212976"/>
            <a:ext cx="3855684" cy="1547796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marL="180975" indent="-180975" algn="l" defTabSz="457200" latinLnBrk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5094"/>
              </a:buClr>
              <a:buFont typeface="Arial"/>
              <a:buChar char="•"/>
              <a:defRPr/>
            </a:pPr>
            <a:r>
              <a:rPr kumimoji="0" lang="en-US" altLang="ko-KR" sz="1300" b="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Date </a:t>
            </a:r>
            <a:r>
              <a:rPr kumimoji="0" lang="ko-KR" altLang="en-US" sz="1300" b="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열을 </a:t>
            </a:r>
            <a:r>
              <a:rPr kumimoji="0" lang="en-US" altLang="ko-KR" sz="1300" b="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datetime </a:t>
            </a:r>
            <a:r>
              <a:rPr kumimoji="0" lang="ko-KR" altLang="en-US" sz="1300" b="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형식으로 변환하여 시간 정보를 활용할 수 있도록 했습니다</a:t>
            </a:r>
            <a:r>
              <a:rPr kumimoji="0" lang="en-US" altLang="ko-KR" sz="1300" b="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</a:t>
            </a:r>
          </a:p>
          <a:p>
            <a:pPr marL="180975" indent="-180975" algn="l" defTabSz="457200" latinLnBrk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5094"/>
              </a:buClr>
              <a:buFont typeface="Arial"/>
              <a:buChar char="•"/>
              <a:defRPr/>
            </a:pPr>
            <a:r>
              <a:rPr kumimoji="0" lang="en-US" altLang="ko-KR" sz="1300" spc="-90" dirty="0" err="1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Set_index</a:t>
            </a: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(‘Date’)</a:t>
            </a:r>
            <a:r>
              <a:rPr kumimoji="0" lang="ko-KR" altLang="en-US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를 사용하여 날짜를 인덱스로 설정하여 시계열 분석이 가능하도록 합니다</a:t>
            </a:r>
            <a:r>
              <a:rPr kumimoji="0" lang="en-US" altLang="ko-KR" sz="130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</a:t>
            </a:r>
            <a:br>
              <a:rPr kumimoji="0" lang="en-US" altLang="ko-KR" sz="1300" b="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</a:br>
            <a:endParaRPr kumimoji="0" lang="en-US" altLang="ko-KR" sz="1300" b="0" spc="-90" dirty="0">
              <a:solidFill>
                <a:prstClr val="black">
                  <a:lumMod val="95000"/>
                  <a:lumOff val="5000"/>
                </a:prstClr>
              </a:solidFill>
              <a:latin typeface="KoPub돋움체 Bold"/>
              <a:ea typeface="KoPub돋움체 Bol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B8D77CC-BDE8-EF91-01C1-B7FCEF065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080" y="2132856"/>
            <a:ext cx="3570853" cy="10097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C76846-309C-3A29-745C-FC314D94B093}"/>
              </a:ext>
            </a:extLst>
          </p:cNvPr>
          <p:cNvSpPr txBox="1"/>
          <p:nvPr/>
        </p:nvSpPr>
        <p:spPr>
          <a:xfrm>
            <a:off x="5530664" y="3422975"/>
            <a:ext cx="3855684" cy="870688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marL="180975" indent="-180975" algn="l" defTabSz="457200" latinLnBrk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5094"/>
              </a:buClr>
              <a:buFont typeface="Arial"/>
              <a:buChar char="•"/>
              <a:defRPr/>
            </a:pPr>
            <a:r>
              <a:rPr kumimoji="0" lang="en-US" altLang="ko-KR" sz="1300" b="0" spc="-90" dirty="0" err="1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Isnull</a:t>
            </a:r>
            <a:r>
              <a:rPr kumimoji="0" lang="en-US" altLang="ko-KR" sz="1300" b="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().sum()</a:t>
            </a:r>
            <a:r>
              <a:rPr kumimoji="0" lang="ko-KR" altLang="en-US" sz="1300" b="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으로 </a:t>
            </a:r>
            <a:r>
              <a:rPr kumimoji="0" lang="ko-KR" altLang="en-US" sz="1300" b="0" spc="-90" dirty="0" err="1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결측치를</a:t>
            </a:r>
            <a:r>
              <a:rPr kumimoji="0" lang="ko-KR" altLang="en-US" sz="1300" b="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 확인했지만 존재하지 않아서 다른 처리를 하지 않고 진행했습니다</a:t>
            </a:r>
            <a:r>
              <a:rPr kumimoji="0" lang="en-US" altLang="ko-KR" sz="1300" b="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  <a:t>.</a:t>
            </a:r>
            <a:br>
              <a:rPr kumimoji="0" lang="en-US" altLang="ko-KR" sz="1300" b="0" spc="-90" dirty="0">
                <a:solidFill>
                  <a:prstClr val="black">
                    <a:lumMod val="95000"/>
                    <a:lumOff val="5000"/>
                  </a:prstClr>
                </a:solidFill>
                <a:latin typeface="KoPub돋움체 Bold"/>
                <a:ea typeface="KoPub돋움체 Bold"/>
              </a:rPr>
            </a:br>
            <a:endParaRPr kumimoji="0" lang="en-US" altLang="ko-KR" sz="1300" b="0" spc="-90" dirty="0">
              <a:solidFill>
                <a:prstClr val="black">
                  <a:lumMod val="95000"/>
                  <a:lumOff val="5000"/>
                </a:prstClr>
              </a:solidFill>
              <a:latin typeface="KoPub돋움체 Bold"/>
              <a:ea typeface="KoPub돋움체 Bold"/>
            </a:endParaRPr>
          </a:p>
        </p:txBody>
      </p:sp>
    </p:spTree>
    <p:extLst>
      <p:ext uri="{BB962C8B-B14F-4D97-AF65-F5344CB8AC3E}">
        <p14:creationId xmlns:p14="http://schemas.microsoft.com/office/powerpoint/2010/main" val="568347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AD0F7-7E1A-BC04-15F3-F52DC7364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>
            <a:extLst>
              <a:ext uri="{FF2B5EF4-FFF2-40B4-BE49-F238E27FC236}">
                <a16:creationId xmlns:a16="http://schemas.microsoft.com/office/drawing/2014/main" id="{D2918F16-D309-8A21-29AE-33EF72FBA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180132"/>
            <a:ext cx="441659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4.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주요 결과물 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데이터 학습 및 모델정의</a:t>
            </a:r>
            <a:endParaRPr lang="ko-KR" altLang="en-US" sz="20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" name="모서리가 둥근 직사각형 46">
            <a:extLst>
              <a:ext uri="{FF2B5EF4-FFF2-40B4-BE49-F238E27FC236}">
                <a16:creationId xmlns:a16="http://schemas.microsoft.com/office/drawing/2014/main" id="{4C4618CB-20A2-0E69-E3F8-D44BF9E3A78E}"/>
              </a:ext>
            </a:extLst>
          </p:cNvPr>
          <p:cNvSpPr/>
          <p:nvPr/>
        </p:nvSpPr>
        <p:spPr>
          <a:xfrm>
            <a:off x="417123" y="950176"/>
            <a:ext cx="4087283" cy="533400"/>
          </a:xfrm>
          <a:prstGeom prst="roundRect">
            <a:avLst>
              <a:gd name="adj" fmla="val 50000"/>
            </a:avLst>
          </a:prstGeom>
          <a:solidFill>
            <a:srgbClr val="005094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kern="0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모델정의 및 컴파일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1AE79CD-928B-AF68-DDD2-81866AB27FBC}"/>
              </a:ext>
            </a:extLst>
          </p:cNvPr>
          <p:cNvGrpSpPr/>
          <p:nvPr/>
        </p:nvGrpSpPr>
        <p:grpSpPr>
          <a:xfrm>
            <a:off x="672807" y="1696704"/>
            <a:ext cx="1682179" cy="230832"/>
            <a:chOff x="672807" y="1756802"/>
            <a:chExt cx="1682179" cy="230832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2816521B-3894-74D1-9A58-5A4251F543A2}"/>
                </a:ext>
              </a:extLst>
            </p:cNvPr>
            <p:cNvGrpSpPr/>
            <p:nvPr/>
          </p:nvGrpSpPr>
          <p:grpSpPr>
            <a:xfrm>
              <a:off x="672807" y="1811663"/>
              <a:ext cx="230932" cy="146559"/>
              <a:chOff x="215900" y="2790255"/>
              <a:chExt cx="160090" cy="101600"/>
            </a:xfrm>
          </p:grpSpPr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CE16C499-6E22-7F82-B4CB-44A7F805762C}"/>
                  </a:ext>
                </a:extLst>
              </p:cNvPr>
              <p:cNvCxnSpPr/>
              <p:nvPr/>
            </p:nvCxnSpPr>
            <p:spPr bwMode="auto">
              <a:xfrm>
                <a:off x="231974" y="2841055"/>
                <a:ext cx="144016" cy="0"/>
              </a:xfrm>
              <a:prstGeom prst="line">
                <a:avLst/>
              </a:prstGeom>
              <a:noFill/>
              <a:ln w="6350">
                <a:solidFill>
                  <a:srgbClr val="3C9CD8"/>
                </a:solidFill>
                <a:miter lim="800000"/>
                <a:headEnd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5A2F0143-A69A-1B94-9290-F5E33A4BECAA}"/>
                  </a:ext>
                </a:extLst>
              </p:cNvPr>
              <p:cNvSpPr/>
              <p:nvPr/>
            </p:nvSpPr>
            <p:spPr>
              <a:xfrm>
                <a:off x="215900" y="2790255"/>
                <a:ext cx="101600" cy="101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3C9CD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00" b="1" dirty="0">
                  <a:solidFill>
                    <a:prstClr val="white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0AB827FB-A88B-BA81-2245-15DBE3CF3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568" y="1756802"/>
              <a:ext cx="1290418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>
                <a:defRPr/>
              </a:pPr>
              <a:r>
                <a:rPr lang="ko-KR" altLang="en-US" sz="1500" kern="0" dirty="0">
                  <a:solidFill>
                    <a:prstClr val="black"/>
                  </a:solidFill>
                  <a:latin typeface="KoPub돋움체 Bold" pitchFamily="18" charset="-127"/>
                  <a:ea typeface="KoPub돋움체 Bold" pitchFamily="18" charset="-127"/>
                </a:rPr>
                <a:t>시계열 모델 정의</a:t>
              </a:r>
            </a:p>
          </p:txBody>
        </p:sp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EE96326-EEA2-3A14-B204-CE973FD2E19D}"/>
              </a:ext>
            </a:extLst>
          </p:cNvPr>
          <p:cNvSpPr/>
          <p:nvPr/>
        </p:nvSpPr>
        <p:spPr>
          <a:xfrm>
            <a:off x="380552" y="3926017"/>
            <a:ext cx="4445740" cy="73866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l" defTabSz="914343" fontAlgn="auto" latinLnBrk="0"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20000"/>
              <a:defRPr/>
            </a:pPr>
            <a:r>
              <a:rPr kumimoji="0" lang="en-US" altLang="ko-KR" sz="1400" spc="-8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Time_step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=12 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로 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12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개월 데이터를 사용해 다음 달 값을 예측하는 방식입니다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kumimoji="0" lang="en-US" altLang="ko-KR" sz="1400" spc="-8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Create_dataseyt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() 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함수를 통해 입력과 출력 데이터를 생성합니다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6BDB1B6-B2B2-1824-FE96-4310AD767400}"/>
              </a:ext>
            </a:extLst>
          </p:cNvPr>
          <p:cNvGrpSpPr/>
          <p:nvPr/>
        </p:nvGrpSpPr>
        <p:grpSpPr>
          <a:xfrm>
            <a:off x="672807" y="4664682"/>
            <a:ext cx="1289443" cy="230832"/>
            <a:chOff x="672807" y="1756802"/>
            <a:chExt cx="1289443" cy="230832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A06F48B2-0958-FBDF-FBB5-3AD3BD4B8B34}"/>
                </a:ext>
              </a:extLst>
            </p:cNvPr>
            <p:cNvGrpSpPr/>
            <p:nvPr/>
          </p:nvGrpSpPr>
          <p:grpSpPr>
            <a:xfrm>
              <a:off x="672807" y="1811663"/>
              <a:ext cx="230932" cy="146559"/>
              <a:chOff x="215900" y="2790255"/>
              <a:chExt cx="160090" cy="101600"/>
            </a:xfrm>
          </p:grpSpPr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4CD0B9F6-BD7C-8183-DD13-3D8F6FB5EF47}"/>
                  </a:ext>
                </a:extLst>
              </p:cNvPr>
              <p:cNvCxnSpPr/>
              <p:nvPr/>
            </p:nvCxnSpPr>
            <p:spPr bwMode="auto">
              <a:xfrm>
                <a:off x="231974" y="2841055"/>
                <a:ext cx="144016" cy="0"/>
              </a:xfrm>
              <a:prstGeom prst="line">
                <a:avLst/>
              </a:prstGeom>
              <a:noFill/>
              <a:ln w="6350">
                <a:solidFill>
                  <a:srgbClr val="3C9CD8"/>
                </a:solidFill>
                <a:miter lim="800000"/>
                <a:headEnd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8D96CB29-8C3D-9E15-498E-8E9F050EC493}"/>
                  </a:ext>
                </a:extLst>
              </p:cNvPr>
              <p:cNvSpPr/>
              <p:nvPr/>
            </p:nvSpPr>
            <p:spPr>
              <a:xfrm>
                <a:off x="215900" y="2790255"/>
                <a:ext cx="101600" cy="101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3C9CD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00" b="1" dirty="0">
                  <a:solidFill>
                    <a:prstClr val="white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31BB234D-8018-6282-C6F9-8F06A5030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568" y="1756802"/>
              <a:ext cx="897682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>
                <a:defRPr/>
              </a:pPr>
              <a:r>
                <a:rPr lang="ko-KR" altLang="en-US" sz="1500" kern="0" dirty="0">
                  <a:solidFill>
                    <a:prstClr val="black"/>
                  </a:solidFill>
                  <a:latin typeface="KoPub돋움체 Bold" pitchFamily="18" charset="-127"/>
                  <a:ea typeface="KoPub돋움체 Bold" pitchFamily="18" charset="-127"/>
                </a:rPr>
                <a:t>모델 컴파일</a:t>
              </a: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E9389081-6FBC-128F-DCF7-535E05FFD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12" y="5085906"/>
            <a:ext cx="4079782" cy="53557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CDD69F9-65C4-BE59-87D4-72D8E2D6D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3" y="1961644"/>
            <a:ext cx="4203938" cy="1962997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EFE2C786-F50F-AF85-23F3-A3699F7E7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984" y="1961643"/>
            <a:ext cx="4723716" cy="1962997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7D4385EB-9162-96DD-47A7-8DF9371EAC7D}"/>
              </a:ext>
            </a:extLst>
          </p:cNvPr>
          <p:cNvSpPr/>
          <p:nvPr/>
        </p:nvSpPr>
        <p:spPr>
          <a:xfrm>
            <a:off x="4787453" y="4012872"/>
            <a:ext cx="4445740" cy="104644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l" defTabSz="914343" fontAlgn="auto" latinLnBrk="0"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20000"/>
              <a:defRPr/>
            </a:pP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LSTM 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모델에 적합하도록 형태 변환했습니다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algn="l" defTabSz="914343" fontAlgn="auto" latinLnBrk="0"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20000"/>
              <a:defRPr/>
            </a:pP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LSTM 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계층을 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개 사용하여 시계열 데이터를 학습합니다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algn="l" defTabSz="914343" fontAlgn="auto" latinLnBrk="0"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20000"/>
              <a:defRPr/>
            </a:pP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Dropout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를 사용하여 과적합을 방지하고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kumimoji="0" lang="ko-KR" altLang="en-US" sz="1400" spc="-8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단일값을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예측합니다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ABE9A13-980C-D3ED-F9FE-D6AA40164C29}"/>
              </a:ext>
            </a:extLst>
          </p:cNvPr>
          <p:cNvSpPr/>
          <p:nvPr/>
        </p:nvSpPr>
        <p:spPr>
          <a:xfrm>
            <a:off x="544112" y="5631428"/>
            <a:ext cx="6281096" cy="3077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l" defTabSz="914343" fontAlgn="auto" latinLnBrk="0"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20000"/>
              <a:defRPr/>
            </a:pP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Adam </a:t>
            </a:r>
            <a:r>
              <a:rPr kumimoji="0" lang="ko-KR" altLang="en-US" sz="1400" spc="-8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옵티마이저를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사용하고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손실 함수로 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MSE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를 설정합니다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7449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54A96-F1D0-ECE7-9305-AF08E3BD1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>
            <a:extLst>
              <a:ext uri="{FF2B5EF4-FFF2-40B4-BE49-F238E27FC236}">
                <a16:creationId xmlns:a16="http://schemas.microsoft.com/office/drawing/2014/main" id="{40511DAF-C963-55F6-754A-59CEB5094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180132"/>
            <a:ext cx="441659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4.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주요 결과물 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데이터 학습 및 모델정의</a:t>
            </a:r>
            <a:endParaRPr lang="ko-KR" altLang="en-US" sz="20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" name="모서리가 둥근 직사각형 46">
            <a:extLst>
              <a:ext uri="{FF2B5EF4-FFF2-40B4-BE49-F238E27FC236}">
                <a16:creationId xmlns:a16="http://schemas.microsoft.com/office/drawing/2014/main" id="{F4173D29-5F09-B3A3-704C-EEDE8DA8E3CE}"/>
              </a:ext>
            </a:extLst>
          </p:cNvPr>
          <p:cNvSpPr/>
          <p:nvPr/>
        </p:nvSpPr>
        <p:spPr>
          <a:xfrm>
            <a:off x="417123" y="950176"/>
            <a:ext cx="4087283" cy="533400"/>
          </a:xfrm>
          <a:prstGeom prst="roundRect">
            <a:avLst>
              <a:gd name="adj" fmla="val 50000"/>
            </a:avLst>
          </a:prstGeom>
          <a:solidFill>
            <a:srgbClr val="005094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kern="0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모델학습 및 시각화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9CC7968-8BB0-1922-E745-2D41AA2930A8}"/>
              </a:ext>
            </a:extLst>
          </p:cNvPr>
          <p:cNvGrpSpPr/>
          <p:nvPr/>
        </p:nvGrpSpPr>
        <p:grpSpPr>
          <a:xfrm>
            <a:off x="560512" y="1756802"/>
            <a:ext cx="1121128" cy="230832"/>
            <a:chOff x="672807" y="1756802"/>
            <a:chExt cx="1121128" cy="230832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836357DB-E496-E1BD-3F60-E0DCD92B40B6}"/>
                </a:ext>
              </a:extLst>
            </p:cNvPr>
            <p:cNvGrpSpPr/>
            <p:nvPr/>
          </p:nvGrpSpPr>
          <p:grpSpPr>
            <a:xfrm>
              <a:off x="672807" y="1811663"/>
              <a:ext cx="230932" cy="146559"/>
              <a:chOff x="215900" y="2790255"/>
              <a:chExt cx="160090" cy="101600"/>
            </a:xfrm>
          </p:grpSpPr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AFFF2B4C-D60E-2E55-B961-4B3971E64A65}"/>
                  </a:ext>
                </a:extLst>
              </p:cNvPr>
              <p:cNvCxnSpPr/>
              <p:nvPr/>
            </p:nvCxnSpPr>
            <p:spPr bwMode="auto">
              <a:xfrm>
                <a:off x="231974" y="2841055"/>
                <a:ext cx="144016" cy="0"/>
              </a:xfrm>
              <a:prstGeom prst="line">
                <a:avLst/>
              </a:prstGeom>
              <a:noFill/>
              <a:ln w="6350">
                <a:solidFill>
                  <a:srgbClr val="3C9CD8"/>
                </a:solidFill>
                <a:miter lim="800000"/>
                <a:headEnd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A52D5E7A-8735-DEC9-A58F-004EB0AA3459}"/>
                  </a:ext>
                </a:extLst>
              </p:cNvPr>
              <p:cNvSpPr/>
              <p:nvPr/>
            </p:nvSpPr>
            <p:spPr>
              <a:xfrm>
                <a:off x="215900" y="2790255"/>
                <a:ext cx="101600" cy="101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3C9CD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00" b="1" dirty="0">
                  <a:solidFill>
                    <a:prstClr val="white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6A49021D-B3BA-D41E-BBB9-4880F79FA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568" y="1756802"/>
              <a:ext cx="729367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>
                <a:defRPr/>
              </a:pPr>
              <a:r>
                <a:rPr lang="ko-KR" altLang="en-US" sz="1500" kern="0" dirty="0">
                  <a:solidFill>
                    <a:prstClr val="black"/>
                  </a:solidFill>
                  <a:latin typeface="KoPub돋움체 Bold" pitchFamily="18" charset="-127"/>
                  <a:ea typeface="KoPub돋움체 Bold" pitchFamily="18" charset="-127"/>
                </a:rPr>
                <a:t>모델 학습</a:t>
              </a: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AEE35973-87BF-D73A-B20B-96AF405B6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23" y="2172968"/>
            <a:ext cx="9079008" cy="480462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90D0D1E-8DE2-84F4-729F-D0261CFD770C}"/>
              </a:ext>
            </a:extLst>
          </p:cNvPr>
          <p:cNvSpPr/>
          <p:nvPr/>
        </p:nvSpPr>
        <p:spPr>
          <a:xfrm>
            <a:off x="417123" y="2787565"/>
            <a:ext cx="7364737" cy="3077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l" defTabSz="914343" fontAlgn="auto" latinLnBrk="0"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20000"/>
              <a:defRPr/>
            </a:pPr>
            <a:r>
              <a:rPr kumimoji="0" lang="en-US" altLang="ko-KR" sz="1400" spc="-8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EarlyStopping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을 사용하여 검증 손실이 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 epochs 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이상 개선되지 않으면 학습을 조기 종료합니다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72EF4067-A74C-067C-D54A-F23C1E94E0CD}"/>
              </a:ext>
            </a:extLst>
          </p:cNvPr>
          <p:cNvSpPr/>
          <p:nvPr/>
        </p:nvSpPr>
        <p:spPr>
          <a:xfrm>
            <a:off x="583699" y="3374977"/>
            <a:ext cx="146559" cy="146559"/>
          </a:xfrm>
          <a:prstGeom prst="ellipse">
            <a:avLst/>
          </a:prstGeom>
          <a:solidFill>
            <a:schemeClr val="bg1"/>
          </a:solidFill>
          <a:ln>
            <a:solidFill>
              <a:srgbClr val="3C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b="1" dirty="0">
              <a:solidFill>
                <a:prstClr val="white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1CF4384D-DA45-BBC1-5DD1-4C0DA1931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460" y="3320116"/>
            <a:ext cx="1009892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l">
              <a:defRPr/>
            </a:pP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예측 및 평가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FF28D16-C5DC-4EC3-00A2-47742B5CD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12" y="3580360"/>
            <a:ext cx="8208912" cy="1396769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4CA9CB93-C80B-69A8-BA15-A996E2C7595B}"/>
              </a:ext>
            </a:extLst>
          </p:cNvPr>
          <p:cNvSpPr/>
          <p:nvPr/>
        </p:nvSpPr>
        <p:spPr>
          <a:xfrm>
            <a:off x="593307" y="5035953"/>
            <a:ext cx="7364737" cy="141577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l" defTabSz="914343" fontAlgn="auto" latinLnBrk="0"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20000"/>
              <a:defRPr/>
            </a:pP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RMSE : 5.8725, 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비교적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낮은 값으로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모델의 예측이 </a:t>
            </a:r>
            <a:r>
              <a:rPr kumimoji="0" lang="ko-KR" altLang="en-US" sz="1400" spc="-8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실제값과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크게 다르지 않음을 나타냄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algn="l" defTabSz="914343" fontAlgn="auto" latinLnBrk="0"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20000"/>
              <a:defRPr/>
            </a:pP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MAE : 5.0258, RMSE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와 마찬가지로 낮은 값으로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모델의 예측이 비교적 정확함을 나타냅니다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algn="l" defTabSz="914343" fontAlgn="auto" latinLnBrk="0"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20000"/>
              <a:defRPr/>
            </a:pP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R2 : 0.9554, 1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에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매우 가까운 값으로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모델이 데이터를 잘 설명하고 있음을 나타냅니다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algn="l" defTabSz="914343" fontAlgn="auto" latinLnBrk="0"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20000"/>
              <a:defRPr/>
            </a:pP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MAPE : 1.9536, 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매우 낮은 백분율 오차로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모델의 예측 정확도가 매우 높음을 나타냅니다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3647078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B5451-2692-D552-0D71-CE4CCAB13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>
            <a:extLst>
              <a:ext uri="{FF2B5EF4-FFF2-40B4-BE49-F238E27FC236}">
                <a16:creationId xmlns:a16="http://schemas.microsoft.com/office/drawing/2014/main" id="{9EB2D116-D254-6ECA-1E7A-87A7993FC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180132"/>
            <a:ext cx="441659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4.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주요 결과물 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데이터 학습 및 모델정의</a:t>
            </a:r>
            <a:endParaRPr lang="ko-KR" altLang="en-US" sz="20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" name="모서리가 둥근 직사각형 46">
            <a:extLst>
              <a:ext uri="{FF2B5EF4-FFF2-40B4-BE49-F238E27FC236}">
                <a16:creationId xmlns:a16="http://schemas.microsoft.com/office/drawing/2014/main" id="{382014A6-CF7B-787A-3114-E81F98B0FA1D}"/>
              </a:ext>
            </a:extLst>
          </p:cNvPr>
          <p:cNvSpPr/>
          <p:nvPr/>
        </p:nvSpPr>
        <p:spPr>
          <a:xfrm>
            <a:off x="417123" y="950176"/>
            <a:ext cx="4087283" cy="533400"/>
          </a:xfrm>
          <a:prstGeom prst="roundRect">
            <a:avLst>
              <a:gd name="adj" fmla="val 50000"/>
            </a:avLst>
          </a:prstGeom>
          <a:solidFill>
            <a:srgbClr val="005094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kern="0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모델학습 및 시각화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F215706-6C01-9114-B42F-B915A1779099}"/>
              </a:ext>
            </a:extLst>
          </p:cNvPr>
          <p:cNvGrpSpPr/>
          <p:nvPr/>
        </p:nvGrpSpPr>
        <p:grpSpPr>
          <a:xfrm>
            <a:off x="672807" y="1756802"/>
            <a:ext cx="1626073" cy="230832"/>
            <a:chOff x="672807" y="1756802"/>
            <a:chExt cx="1626073" cy="230832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8E946FF-D29D-9C16-C02C-33DCB440DA8A}"/>
                </a:ext>
              </a:extLst>
            </p:cNvPr>
            <p:cNvGrpSpPr/>
            <p:nvPr/>
          </p:nvGrpSpPr>
          <p:grpSpPr>
            <a:xfrm>
              <a:off x="672807" y="1811663"/>
              <a:ext cx="230932" cy="146559"/>
              <a:chOff x="215900" y="2790255"/>
              <a:chExt cx="160090" cy="101600"/>
            </a:xfrm>
          </p:grpSpPr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E738506B-DD75-F563-D5B4-F2DB83F64249}"/>
                  </a:ext>
                </a:extLst>
              </p:cNvPr>
              <p:cNvCxnSpPr/>
              <p:nvPr/>
            </p:nvCxnSpPr>
            <p:spPr bwMode="auto">
              <a:xfrm>
                <a:off x="231974" y="2841055"/>
                <a:ext cx="144016" cy="0"/>
              </a:xfrm>
              <a:prstGeom prst="line">
                <a:avLst/>
              </a:prstGeom>
              <a:noFill/>
              <a:ln w="6350">
                <a:solidFill>
                  <a:srgbClr val="3C9CD8"/>
                </a:solidFill>
                <a:miter lim="800000"/>
                <a:headEnd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00422BB1-A9F3-EDF2-A2ED-EDA7C006B467}"/>
                  </a:ext>
                </a:extLst>
              </p:cNvPr>
              <p:cNvSpPr/>
              <p:nvPr/>
            </p:nvSpPr>
            <p:spPr>
              <a:xfrm>
                <a:off x="215900" y="2790255"/>
                <a:ext cx="101600" cy="101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3C9CD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00" b="1" dirty="0">
                  <a:solidFill>
                    <a:prstClr val="white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342343C4-B9E6-2CBC-F784-4A4375805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568" y="1756802"/>
              <a:ext cx="1234312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>
                <a:defRPr/>
              </a:pPr>
              <a:r>
                <a:rPr lang="ko-KR" altLang="en-US" sz="1500" kern="0">
                  <a:solidFill>
                    <a:prstClr val="black"/>
                  </a:solidFill>
                  <a:latin typeface="KoPub돋움체 Bold" pitchFamily="18" charset="-127"/>
                  <a:ea typeface="KoPub돋움체 Bold" pitchFamily="18" charset="-127"/>
                </a:rPr>
                <a:t>학습과정 시각화</a:t>
              </a:r>
              <a:endPara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5D34BDD2-F1A2-1D3D-3DEB-E0C5C85C2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12" y="2060914"/>
            <a:ext cx="4087283" cy="234812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F738AE6-2480-0AF1-44C2-E85936A1D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984" y="1958222"/>
            <a:ext cx="4416594" cy="2450817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E30132CC-B31C-8E78-9C1D-4CB8DAE69A0C}"/>
              </a:ext>
            </a:extLst>
          </p:cNvPr>
          <p:cNvSpPr/>
          <p:nvPr/>
        </p:nvSpPr>
        <p:spPr>
          <a:xfrm>
            <a:off x="567273" y="4653136"/>
            <a:ext cx="8562191" cy="200054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l" defTabSz="914343" fontAlgn="auto" latinLnBrk="0"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20000"/>
              <a:defRPr/>
            </a:pPr>
            <a:r>
              <a:rPr kumimoji="0" lang="en-US" altLang="ko-KR" sz="1400" spc="-8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history.history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는 </a:t>
            </a:r>
            <a:r>
              <a:rPr kumimoji="0" lang="en-US" altLang="ko-KR" sz="1400" spc="-8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model.fit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() 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수행 시 반환되는 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history 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객체에서 손실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(loss) 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값을 저장한 </a:t>
            </a:r>
            <a:r>
              <a:rPr kumimoji="0" lang="ko-KR" altLang="en-US" sz="1400" spc="-8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딕셔너리입니다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algn="l" defTabSz="914343" fontAlgn="auto" latinLnBrk="0"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20000"/>
              <a:defRPr/>
            </a:pP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그래프 해석으로는 초기에 손실 값이 급감하는 모습입니다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초기 가중치가 무작위로 설정되어 있었기 때문에 손실이 높았으나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급감하며 학습이 진행되는 것을 확인 할 수 있었습니다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algn="l" defTabSz="914343" fontAlgn="auto" latinLnBrk="0"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20000"/>
              <a:defRPr/>
            </a:pP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 후 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0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에 가까운 값에서 </a:t>
            </a:r>
            <a:r>
              <a:rPr kumimoji="0" lang="ko-KR" altLang="en-US" sz="1400" spc="-8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변동없이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유지되고 모델이 거의 완벽하게 학습했음을 의미합니다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algn="l" defTabSz="914343" fontAlgn="auto" latinLnBrk="0"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20000"/>
              <a:defRPr/>
            </a:pP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두 선이 거의 일치하는 것으로 보아 과적합은 없는 것으로 보입니다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소실도 매우 낮아지고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kumimoji="0" lang="ko-KR" altLang="en-US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학습이 잘 된 것으로 확인됩니다</a:t>
            </a:r>
            <a:r>
              <a:rPr kumimoji="0" lang="en-US" altLang="ko-KR" sz="1400" spc="-8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algn="l" defTabSz="914343" fontAlgn="auto" latinLnBrk="0"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20000"/>
              <a:defRPr/>
            </a:pPr>
            <a:endParaRPr kumimoji="0" lang="en-US" altLang="ko-KR" sz="1400" spc="-8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7506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86718-246F-48B2-F094-02E67FD73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>
            <a:extLst>
              <a:ext uri="{FF2B5EF4-FFF2-40B4-BE49-F238E27FC236}">
                <a16:creationId xmlns:a16="http://schemas.microsoft.com/office/drawing/2014/main" id="{6AC71145-725C-DD78-D957-367CFBBB2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180132"/>
            <a:ext cx="441659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4.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주요 결과물 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데이터 학습 및 모델정의</a:t>
            </a:r>
            <a:endParaRPr lang="ko-KR" altLang="en-US" sz="20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" name="모서리가 둥근 직사각형 46">
            <a:extLst>
              <a:ext uri="{FF2B5EF4-FFF2-40B4-BE49-F238E27FC236}">
                <a16:creationId xmlns:a16="http://schemas.microsoft.com/office/drawing/2014/main" id="{46340474-9B35-9AAD-DC23-8515A79E2767}"/>
              </a:ext>
            </a:extLst>
          </p:cNvPr>
          <p:cNvSpPr/>
          <p:nvPr/>
        </p:nvSpPr>
        <p:spPr>
          <a:xfrm>
            <a:off x="417123" y="950176"/>
            <a:ext cx="4087283" cy="533400"/>
          </a:xfrm>
          <a:prstGeom prst="roundRect">
            <a:avLst>
              <a:gd name="adj" fmla="val 50000"/>
            </a:avLst>
          </a:prstGeom>
          <a:solidFill>
            <a:srgbClr val="005094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kern="0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 예측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9A3F581-D157-D9CA-F083-1BD7A79DE1DB}"/>
              </a:ext>
            </a:extLst>
          </p:cNvPr>
          <p:cNvGrpSpPr/>
          <p:nvPr/>
        </p:nvGrpSpPr>
        <p:grpSpPr>
          <a:xfrm>
            <a:off x="440719" y="1513696"/>
            <a:ext cx="2100562" cy="230832"/>
            <a:chOff x="672807" y="1756802"/>
            <a:chExt cx="2100562" cy="230832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5A7FEFF5-4779-0D28-B256-EC554C1B15E5}"/>
                </a:ext>
              </a:extLst>
            </p:cNvPr>
            <p:cNvGrpSpPr/>
            <p:nvPr/>
          </p:nvGrpSpPr>
          <p:grpSpPr>
            <a:xfrm>
              <a:off x="672807" y="1811663"/>
              <a:ext cx="230932" cy="146559"/>
              <a:chOff x="215900" y="2790255"/>
              <a:chExt cx="160090" cy="101600"/>
            </a:xfrm>
          </p:grpSpPr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490E8049-D78F-8A59-1917-351EF2E7E1AC}"/>
                  </a:ext>
                </a:extLst>
              </p:cNvPr>
              <p:cNvCxnSpPr/>
              <p:nvPr/>
            </p:nvCxnSpPr>
            <p:spPr bwMode="auto">
              <a:xfrm>
                <a:off x="231974" y="2841055"/>
                <a:ext cx="144016" cy="0"/>
              </a:xfrm>
              <a:prstGeom prst="line">
                <a:avLst/>
              </a:prstGeom>
              <a:noFill/>
              <a:ln w="6350">
                <a:solidFill>
                  <a:srgbClr val="3C9CD8"/>
                </a:solidFill>
                <a:miter lim="800000"/>
                <a:headEnd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653B9889-4EDF-7BBA-2CEF-5D64511DB026}"/>
                  </a:ext>
                </a:extLst>
              </p:cNvPr>
              <p:cNvSpPr/>
              <p:nvPr/>
            </p:nvSpPr>
            <p:spPr>
              <a:xfrm>
                <a:off x="215900" y="2790255"/>
                <a:ext cx="101600" cy="101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3C9CD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00" b="1" dirty="0">
                  <a:solidFill>
                    <a:prstClr val="white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318E661F-A2DA-665D-260C-E482A0D37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568" y="1756802"/>
              <a:ext cx="1708801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>
                <a:defRPr/>
              </a:pPr>
              <a:r>
                <a:rPr lang="ko-KR" altLang="en-US" sz="1500" kern="0" dirty="0" err="1">
                  <a:solidFill>
                    <a:prstClr val="black"/>
                  </a:solidFill>
                  <a:latin typeface="KoPub돋움체 Bold" pitchFamily="18" charset="-127"/>
                  <a:ea typeface="KoPub돋움체 Bold" pitchFamily="18" charset="-127"/>
                </a:rPr>
                <a:t>예측값</a:t>
              </a:r>
              <a:r>
                <a:rPr lang="ko-KR" altLang="en-US" sz="1500" kern="0" dirty="0">
                  <a:solidFill>
                    <a:prstClr val="black"/>
                  </a:solidFill>
                  <a:latin typeface="KoPub돋움체 Bold" pitchFamily="18" charset="-127"/>
                  <a:ea typeface="KoPub돋움체 Bold" pitchFamily="18" charset="-127"/>
                </a:rPr>
                <a:t> </a:t>
              </a:r>
              <a:r>
                <a:rPr lang="en-US" altLang="ko-KR" sz="1500" kern="0" dirty="0">
                  <a:solidFill>
                    <a:prstClr val="black"/>
                  </a:solidFill>
                  <a:latin typeface="KoPub돋움체 Bold" pitchFamily="18" charset="-127"/>
                  <a:ea typeface="KoPub돋움체 Bold" pitchFamily="18" charset="-127"/>
                </a:rPr>
                <a:t>vs </a:t>
              </a:r>
              <a:r>
                <a:rPr lang="ko-KR" altLang="en-US" sz="1500" kern="0" dirty="0" err="1">
                  <a:solidFill>
                    <a:prstClr val="black"/>
                  </a:solidFill>
                  <a:latin typeface="KoPub돋움체 Bold" pitchFamily="18" charset="-127"/>
                  <a:ea typeface="KoPub돋움체 Bold" pitchFamily="18" charset="-127"/>
                </a:rPr>
                <a:t>실제값</a:t>
              </a:r>
              <a:r>
                <a:rPr lang="ko-KR" altLang="en-US" sz="1500" kern="0" dirty="0">
                  <a:solidFill>
                    <a:prstClr val="black"/>
                  </a:solidFill>
                  <a:latin typeface="KoPub돋움체 Bold" pitchFamily="18" charset="-127"/>
                  <a:ea typeface="KoPub돋움체 Bold" pitchFamily="18" charset="-127"/>
                </a:rPr>
                <a:t> 비교</a:t>
              </a:r>
            </a:p>
          </p:txBody>
        </p:sp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259CF86-924B-D91A-4AFF-E75769AF94C3}"/>
              </a:ext>
            </a:extLst>
          </p:cNvPr>
          <p:cNvSpPr/>
          <p:nvPr/>
        </p:nvSpPr>
        <p:spPr>
          <a:xfrm>
            <a:off x="409995" y="4781654"/>
            <a:ext cx="8522144" cy="200054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l" defTabSz="914343" fontAlgn="auto" latinLnBrk="0"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20000"/>
              <a:defRPr/>
            </a:pPr>
            <a:r>
              <a:rPr kumimoji="0" lang="ko-KR" altLang="en-US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실제 학습한 데이터를 기반으로 모델이 예측한 값을 얻는 과정입니다</a:t>
            </a:r>
            <a:r>
              <a:rPr kumimoji="0" lang="en-US" altLang="ko-KR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algn="l" defTabSz="914343" fontAlgn="auto" latinLnBrk="0"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20000"/>
              <a:defRPr/>
            </a:pPr>
            <a:r>
              <a:rPr kumimoji="0" lang="ko-KR" altLang="en-US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위에 </a:t>
            </a:r>
            <a:r>
              <a:rPr kumimoji="0" lang="en-US" altLang="ko-KR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LSTM </a:t>
            </a:r>
            <a:r>
              <a:rPr kumimoji="0" lang="ko-KR" altLang="en-US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모델에 적용하기 위하여 정규화를 진행한 부분을 예측 결과를 원래의 값으로 역정규화 합니다</a:t>
            </a:r>
            <a:r>
              <a:rPr kumimoji="0" lang="en-US" altLang="ko-KR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algn="l" defTabSz="914343" fontAlgn="auto" latinLnBrk="0"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20000"/>
              <a:defRPr/>
            </a:pPr>
            <a:r>
              <a:rPr kumimoji="0" lang="ko-KR" altLang="en-US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그래프는 실제 해수면 </a:t>
            </a:r>
            <a:r>
              <a:rPr kumimoji="0" lang="ko-KR" altLang="en-US" sz="1400" spc="-80" dirty="0" err="1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상승량과</a:t>
            </a:r>
            <a:r>
              <a:rPr kumimoji="0" lang="ko-KR" altLang="en-US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kumimoji="0" lang="en-US" altLang="ko-KR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LSTM </a:t>
            </a:r>
            <a:r>
              <a:rPr kumimoji="0" lang="ko-KR" altLang="en-US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모델이 예측한 값을 비교하는 그래프입니다</a:t>
            </a:r>
            <a:r>
              <a:rPr kumimoji="0" lang="en-US" altLang="ko-KR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algn="l" defTabSz="914343" fontAlgn="auto" latinLnBrk="0"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20000"/>
              <a:defRPr/>
            </a:pPr>
            <a:r>
              <a:rPr kumimoji="0" lang="ko-KR" altLang="en-US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전반적으로 보았을 때 과거 데이터를 기반으로 학습이 잘되었고</a:t>
            </a:r>
            <a:r>
              <a:rPr kumimoji="0" lang="en-US" altLang="ko-KR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kumimoji="0" lang="ko-KR" altLang="en-US" sz="1400" spc="-80" dirty="0" err="1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과적합</a:t>
            </a:r>
            <a:r>
              <a:rPr kumimoji="0" lang="ko-KR" altLang="en-US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문제는 없어 보입니다</a:t>
            </a:r>
            <a:r>
              <a:rPr kumimoji="0" lang="en-US" altLang="ko-KR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kumimoji="0" lang="ko-KR" altLang="en-US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후반부를 보면 실제 값이 예측 값보다 높은 것을 확인 됩니다</a:t>
            </a:r>
            <a:r>
              <a:rPr kumimoji="0" lang="en-US" altLang="ko-KR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 </a:t>
            </a:r>
            <a:r>
              <a:rPr kumimoji="0" lang="ko-KR" altLang="en-US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이것은 모델이 급격한 변화를 완전히 반영하지 못했을 가능성도 있습니다</a:t>
            </a:r>
            <a:r>
              <a:rPr kumimoji="0" lang="en-US" altLang="ko-KR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kumimoji="0" lang="ko-KR" altLang="en-US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kumimoji="0" lang="en-US" altLang="ko-KR" sz="1400" spc="-80" dirty="0">
              <a:gradFill>
                <a:gsLst>
                  <a:gs pos="67000">
                    <a:prstClr val="black">
                      <a:lumMod val="75000"/>
                      <a:lumOff val="25000"/>
                    </a:prstClr>
                  </a:gs>
                  <a:gs pos="83500">
                    <a:prstClr val="black">
                      <a:lumMod val="75000"/>
                      <a:lumOff val="25000"/>
                    </a:prstClr>
                  </a:gs>
                </a:gsLst>
                <a:lin ang="0" scaled="1"/>
              </a:gra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l" defTabSz="914343" fontAlgn="auto" latinLnBrk="0"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20000"/>
              <a:defRPr/>
            </a:pPr>
            <a:endParaRPr kumimoji="0" lang="en-US" altLang="ko-KR" sz="1400" spc="-80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40D1212-CDED-97EB-DC29-7291BAE51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016" y="1744528"/>
            <a:ext cx="4310181" cy="290431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8829F79-CAD4-9B9C-71A3-43B00A818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93" y="1774648"/>
            <a:ext cx="4643086" cy="297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617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770FC-3BB2-CE2A-2644-E2FD8BB88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>
            <a:extLst>
              <a:ext uri="{FF2B5EF4-FFF2-40B4-BE49-F238E27FC236}">
                <a16:creationId xmlns:a16="http://schemas.microsoft.com/office/drawing/2014/main" id="{2BB59408-3ACB-D497-3E58-E019799F6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180132"/>
            <a:ext cx="390683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4.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주요 결과물 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프로토타이핑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화면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20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" name="모서리가 둥근 직사각형 46">
            <a:extLst>
              <a:ext uri="{FF2B5EF4-FFF2-40B4-BE49-F238E27FC236}">
                <a16:creationId xmlns:a16="http://schemas.microsoft.com/office/drawing/2014/main" id="{0DBAE547-252B-D662-D070-FF5C8535DEEF}"/>
              </a:ext>
            </a:extLst>
          </p:cNvPr>
          <p:cNvSpPr/>
          <p:nvPr/>
        </p:nvSpPr>
        <p:spPr>
          <a:xfrm>
            <a:off x="417123" y="950176"/>
            <a:ext cx="4087283" cy="533400"/>
          </a:xfrm>
          <a:prstGeom prst="roundRect">
            <a:avLst>
              <a:gd name="adj" fmla="val 50000"/>
            </a:avLst>
          </a:prstGeom>
          <a:solidFill>
            <a:srgbClr val="005094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kern="0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 예측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76DD061-9805-190B-818E-4FD73BB87247}"/>
              </a:ext>
            </a:extLst>
          </p:cNvPr>
          <p:cNvGrpSpPr/>
          <p:nvPr/>
        </p:nvGrpSpPr>
        <p:grpSpPr>
          <a:xfrm>
            <a:off x="672807" y="1671740"/>
            <a:ext cx="1906599" cy="230832"/>
            <a:chOff x="672807" y="1756802"/>
            <a:chExt cx="1906599" cy="230832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535123A9-7368-0B02-1057-06664494371E}"/>
                </a:ext>
              </a:extLst>
            </p:cNvPr>
            <p:cNvGrpSpPr/>
            <p:nvPr/>
          </p:nvGrpSpPr>
          <p:grpSpPr>
            <a:xfrm>
              <a:off x="672807" y="1811663"/>
              <a:ext cx="230932" cy="146559"/>
              <a:chOff x="215900" y="2790255"/>
              <a:chExt cx="160090" cy="101600"/>
            </a:xfrm>
          </p:grpSpPr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1FBAC0CD-A9B6-8C21-84CF-0411EBE0F3D3}"/>
                  </a:ext>
                </a:extLst>
              </p:cNvPr>
              <p:cNvCxnSpPr/>
              <p:nvPr/>
            </p:nvCxnSpPr>
            <p:spPr bwMode="auto">
              <a:xfrm>
                <a:off x="231974" y="2841055"/>
                <a:ext cx="144016" cy="0"/>
              </a:xfrm>
              <a:prstGeom prst="line">
                <a:avLst/>
              </a:prstGeom>
              <a:noFill/>
              <a:ln w="6350">
                <a:solidFill>
                  <a:srgbClr val="3C9CD8"/>
                </a:solidFill>
                <a:miter lim="800000"/>
                <a:headEnd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22D4A0FB-C8BD-38CB-42BD-C6F73E735C64}"/>
                  </a:ext>
                </a:extLst>
              </p:cNvPr>
              <p:cNvSpPr/>
              <p:nvPr/>
            </p:nvSpPr>
            <p:spPr>
              <a:xfrm>
                <a:off x="215900" y="2790255"/>
                <a:ext cx="101600" cy="101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3C9CD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00" b="1" dirty="0">
                  <a:solidFill>
                    <a:prstClr val="white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BB6BAAEE-BBCD-7B10-5DD8-4956D99CE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568" y="1756802"/>
              <a:ext cx="1514838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>
                <a:defRPr/>
              </a:pPr>
              <a:r>
                <a:rPr lang="ko-KR" altLang="en-US" sz="1500" kern="0" dirty="0">
                  <a:solidFill>
                    <a:prstClr val="black"/>
                  </a:solidFill>
                  <a:latin typeface="KoPub돋움체 Bold" pitchFamily="18" charset="-127"/>
                  <a:ea typeface="KoPub돋움체 Bold" pitchFamily="18" charset="-127"/>
                </a:rPr>
                <a:t> 해수면 </a:t>
              </a:r>
              <a:r>
                <a:rPr lang="ko-KR" altLang="en-US" sz="1500" kern="0" dirty="0" err="1">
                  <a:solidFill>
                    <a:prstClr val="black"/>
                  </a:solidFill>
                  <a:latin typeface="KoPub돋움체 Bold" pitchFamily="18" charset="-127"/>
                  <a:ea typeface="KoPub돋움체 Bold" pitchFamily="18" charset="-127"/>
                </a:rPr>
                <a:t>상승율</a:t>
              </a:r>
              <a:r>
                <a:rPr lang="ko-KR" altLang="en-US" sz="1500" kern="0" dirty="0">
                  <a:solidFill>
                    <a:prstClr val="black"/>
                  </a:solidFill>
                  <a:latin typeface="KoPub돋움체 Bold" pitchFamily="18" charset="-127"/>
                  <a:ea typeface="KoPub돋움체 Bold" pitchFamily="18" charset="-127"/>
                </a:rPr>
                <a:t> 예측</a:t>
              </a:r>
            </a:p>
          </p:txBody>
        </p:sp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2F2344C-8ED2-79F2-8959-A8B55DAABEAA}"/>
              </a:ext>
            </a:extLst>
          </p:cNvPr>
          <p:cNvSpPr/>
          <p:nvPr/>
        </p:nvSpPr>
        <p:spPr>
          <a:xfrm>
            <a:off x="746086" y="2030408"/>
            <a:ext cx="8522144" cy="3077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l" defTabSz="914343" fontAlgn="auto" latinLnBrk="0"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20000"/>
              <a:defRPr/>
            </a:pPr>
            <a:r>
              <a:rPr kumimoji="0" lang="ko-KR" altLang="en-US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평균값으로 예측했을 때 </a:t>
            </a:r>
            <a:r>
              <a:rPr kumimoji="0" lang="en-US" altLang="ko-KR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2.30</a:t>
            </a:r>
            <a:r>
              <a:rPr kumimoji="0" lang="ko-KR" altLang="en-US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의 상승률이 있습니다</a:t>
            </a:r>
            <a:r>
              <a:rPr kumimoji="0" lang="en-US" altLang="ko-KR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endParaRPr kumimoji="0" lang="en-US" altLang="ko-KR" sz="1400" spc="-80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4606B7F-5F48-94AC-5855-BF3F4FA4D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07" y="2446564"/>
            <a:ext cx="8424936" cy="356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787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58411-1D17-02BF-8BCC-3882861CE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>
            <a:extLst>
              <a:ext uri="{FF2B5EF4-FFF2-40B4-BE49-F238E27FC236}">
                <a16:creationId xmlns:a16="http://schemas.microsoft.com/office/drawing/2014/main" id="{3244C0AC-434B-640C-F6FA-345054F94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180132"/>
            <a:ext cx="390683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4.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주요 결과물 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프로토타이핑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화면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20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" name="모서리가 둥근 직사각형 46">
            <a:extLst>
              <a:ext uri="{FF2B5EF4-FFF2-40B4-BE49-F238E27FC236}">
                <a16:creationId xmlns:a16="http://schemas.microsoft.com/office/drawing/2014/main" id="{A44C84D1-6E8E-5682-6424-36157EDB50F7}"/>
              </a:ext>
            </a:extLst>
          </p:cNvPr>
          <p:cNvSpPr/>
          <p:nvPr/>
        </p:nvSpPr>
        <p:spPr>
          <a:xfrm>
            <a:off x="417123" y="950176"/>
            <a:ext cx="4087283" cy="533400"/>
          </a:xfrm>
          <a:prstGeom prst="roundRect">
            <a:avLst>
              <a:gd name="adj" fmla="val 50000"/>
            </a:avLst>
          </a:prstGeom>
          <a:solidFill>
            <a:srgbClr val="005094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kern="0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 예측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01BB6F5-0DBD-B50B-6B39-6C10233F3B19}"/>
              </a:ext>
            </a:extLst>
          </p:cNvPr>
          <p:cNvGrpSpPr/>
          <p:nvPr/>
        </p:nvGrpSpPr>
        <p:grpSpPr>
          <a:xfrm>
            <a:off x="672807" y="1671740"/>
            <a:ext cx="1906599" cy="230832"/>
            <a:chOff x="672807" y="1756802"/>
            <a:chExt cx="1906599" cy="230832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82C7DDC2-C3FD-9712-8337-7DD397DE1CF9}"/>
                </a:ext>
              </a:extLst>
            </p:cNvPr>
            <p:cNvGrpSpPr/>
            <p:nvPr/>
          </p:nvGrpSpPr>
          <p:grpSpPr>
            <a:xfrm>
              <a:off x="672807" y="1811663"/>
              <a:ext cx="230932" cy="146559"/>
              <a:chOff x="215900" y="2790255"/>
              <a:chExt cx="160090" cy="101600"/>
            </a:xfrm>
          </p:grpSpPr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FAA3462F-D215-53AF-D03C-AC3ECBAB2760}"/>
                  </a:ext>
                </a:extLst>
              </p:cNvPr>
              <p:cNvCxnSpPr/>
              <p:nvPr/>
            </p:nvCxnSpPr>
            <p:spPr bwMode="auto">
              <a:xfrm>
                <a:off x="231974" y="2841055"/>
                <a:ext cx="144016" cy="0"/>
              </a:xfrm>
              <a:prstGeom prst="line">
                <a:avLst/>
              </a:prstGeom>
              <a:noFill/>
              <a:ln w="6350">
                <a:solidFill>
                  <a:srgbClr val="3C9CD8"/>
                </a:solidFill>
                <a:miter lim="800000"/>
                <a:headEnd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E46A2EAC-BC15-C712-8F38-328968D4DF2B}"/>
                  </a:ext>
                </a:extLst>
              </p:cNvPr>
              <p:cNvSpPr/>
              <p:nvPr/>
            </p:nvSpPr>
            <p:spPr>
              <a:xfrm>
                <a:off x="215900" y="2790255"/>
                <a:ext cx="101600" cy="101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3C9CD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00" b="1" dirty="0">
                  <a:solidFill>
                    <a:prstClr val="white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FB1993B9-23CD-4494-55E0-6DCCB54F4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568" y="1756802"/>
              <a:ext cx="1514838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>
                <a:defRPr/>
              </a:pPr>
              <a:r>
                <a:rPr lang="ko-KR" altLang="en-US" sz="1500" kern="0" dirty="0">
                  <a:solidFill>
                    <a:prstClr val="black"/>
                  </a:solidFill>
                  <a:latin typeface="KoPub돋움체 Bold" pitchFamily="18" charset="-127"/>
                  <a:ea typeface="KoPub돋움체 Bold" pitchFamily="18" charset="-127"/>
                </a:rPr>
                <a:t> 해수면 </a:t>
              </a:r>
              <a:r>
                <a:rPr lang="ko-KR" altLang="en-US" sz="1500" kern="0" dirty="0" err="1">
                  <a:solidFill>
                    <a:prstClr val="black"/>
                  </a:solidFill>
                  <a:latin typeface="KoPub돋움체 Bold" pitchFamily="18" charset="-127"/>
                  <a:ea typeface="KoPub돋움체 Bold" pitchFamily="18" charset="-127"/>
                </a:rPr>
                <a:t>상승율</a:t>
              </a:r>
              <a:r>
                <a:rPr lang="ko-KR" altLang="en-US" sz="1500" kern="0" dirty="0">
                  <a:solidFill>
                    <a:prstClr val="black"/>
                  </a:solidFill>
                  <a:latin typeface="KoPub돋움체 Bold" pitchFamily="18" charset="-127"/>
                  <a:ea typeface="KoPub돋움체 Bold" pitchFamily="18" charset="-127"/>
                </a:rPr>
                <a:t> 예측</a:t>
              </a:r>
            </a:p>
          </p:txBody>
        </p:sp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7AA2434-309B-D2F3-7C9B-9D49A207FCA6}"/>
              </a:ext>
            </a:extLst>
          </p:cNvPr>
          <p:cNvSpPr/>
          <p:nvPr/>
        </p:nvSpPr>
        <p:spPr>
          <a:xfrm>
            <a:off x="746086" y="2030408"/>
            <a:ext cx="8522144" cy="30777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l" defTabSz="914343" fontAlgn="auto" latinLnBrk="0">
              <a:spcBef>
                <a:spcPts val="600"/>
              </a:spcBef>
              <a:spcAft>
                <a:spcPts val="600"/>
              </a:spcAft>
              <a:buClr>
                <a:srgbClr val="0070C0"/>
              </a:buClr>
              <a:buSzPct val="120000"/>
              <a:defRPr/>
            </a:pPr>
            <a:r>
              <a:rPr kumimoji="0" lang="ko-KR" altLang="en-US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극적인 변화는 아니지만 </a:t>
            </a:r>
            <a:r>
              <a:rPr kumimoji="0" lang="en-US" altLang="ko-KR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2.33</a:t>
            </a:r>
            <a:r>
              <a:rPr kumimoji="0" lang="ko-KR" altLang="en-US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으로 수치가 올라온 것을 확인 할 수 있습니다</a:t>
            </a:r>
            <a:r>
              <a:rPr kumimoji="0" lang="en-US" altLang="ko-KR" sz="1400" spc="-80" dirty="0">
                <a:gradFill>
                  <a:gsLst>
                    <a:gs pos="67000">
                      <a:prstClr val="black">
                        <a:lumMod val="75000"/>
                        <a:lumOff val="25000"/>
                      </a:prstClr>
                    </a:gs>
                    <a:gs pos="83500">
                      <a:prstClr val="black">
                        <a:lumMod val="75000"/>
                        <a:lumOff val="25000"/>
                      </a:prstClr>
                    </a:gs>
                  </a:gsLst>
                  <a:lin ang="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endParaRPr kumimoji="0" lang="en-US" altLang="ko-KR" sz="1400" spc="-80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588A7F4-BA19-E115-9F2A-FB061D7C7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80" y="2625329"/>
            <a:ext cx="8710425" cy="328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6176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3DF20-AE9D-40BC-910D-802518CCE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>
            <a:extLst>
              <a:ext uri="{FF2B5EF4-FFF2-40B4-BE49-F238E27FC236}">
                <a16:creationId xmlns:a16="http://schemas.microsoft.com/office/drawing/2014/main" id="{01E9283C-C83F-B9AF-AF15-20FB7EA3B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180132"/>
            <a:ext cx="390683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4.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주요 결과물 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프로토타이핑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화면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20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" name="모서리가 둥근 직사각형 46">
            <a:extLst>
              <a:ext uri="{FF2B5EF4-FFF2-40B4-BE49-F238E27FC236}">
                <a16:creationId xmlns:a16="http://schemas.microsoft.com/office/drawing/2014/main" id="{18FC5ED3-CA29-2104-1967-BE8CD09AD473}"/>
              </a:ext>
            </a:extLst>
          </p:cNvPr>
          <p:cNvSpPr/>
          <p:nvPr/>
        </p:nvSpPr>
        <p:spPr>
          <a:xfrm>
            <a:off x="417123" y="950176"/>
            <a:ext cx="4087283" cy="533400"/>
          </a:xfrm>
          <a:prstGeom prst="roundRect">
            <a:avLst>
              <a:gd name="adj" fmla="val 50000"/>
            </a:avLst>
          </a:prstGeom>
          <a:solidFill>
            <a:srgbClr val="005094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프로젝트 후기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7DA6DFB3-EF9F-7205-55C3-661659140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041" y="4174419"/>
            <a:ext cx="7734465" cy="13849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l">
              <a:defRPr/>
            </a:pP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1. 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다양한 데이터 타입 처리 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: GMSL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이 예측 값임에도 불구하고 </a:t>
            </a:r>
            <a:r>
              <a:rPr lang="ko-KR" altLang="en-US" sz="1500" kern="0" dirty="0" err="1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입력값에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 포함되거나 날짜 데이터 처리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	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에서 오류가 발생하는 경우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, 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이를 해결하는 과정에서 많은 고민과 수정이 필요했습니다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.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 </a:t>
            </a:r>
            <a:endParaRPr lang="en-US" altLang="ko-KR" sz="1500" kern="0" dirty="0">
              <a:solidFill>
                <a:prstClr val="black"/>
              </a:solidFill>
              <a:latin typeface="KoPub돋움체 Bold" pitchFamily="18" charset="-127"/>
              <a:ea typeface="KoPub돋움체 Bold" pitchFamily="18" charset="-127"/>
            </a:endParaRPr>
          </a:p>
          <a:p>
            <a:pPr algn="l">
              <a:defRPr/>
            </a:pP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2. 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모델 통합 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: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 저장된 모델을 </a:t>
            </a:r>
            <a:r>
              <a:rPr lang="en-US" altLang="ko-KR" sz="1500" kern="0" dirty="0" err="1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Streamlit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 </a:t>
            </a:r>
            <a:r>
              <a:rPr lang="ko-KR" altLang="en-US" sz="1500" kern="0" dirty="0" err="1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웹앱과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 통합하여 안정적으로 작동하도록 구현하는데 시간이 걸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	</a:t>
            </a:r>
            <a:r>
              <a:rPr lang="ko-KR" altLang="en-US" sz="1500" kern="0" dirty="0" err="1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렸습니다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.</a:t>
            </a:r>
          </a:p>
          <a:p>
            <a:pPr algn="l">
              <a:defRPr/>
            </a:pP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3. 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경험 개선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: </a:t>
            </a:r>
            <a:r>
              <a:rPr lang="ko-KR" altLang="en-US" sz="1500" kern="0" dirty="0" err="1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입력값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 설정 과정에서 불필요한 요소를 제거하고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, 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데이터의 직관성을 높이기 위해 상위 </a:t>
            </a:r>
            <a:endParaRPr lang="en-US" altLang="ko-KR" sz="1500" kern="0" dirty="0">
              <a:solidFill>
                <a:prstClr val="black"/>
              </a:solidFill>
              <a:latin typeface="KoPub돋움체 Bold" pitchFamily="18" charset="-127"/>
              <a:ea typeface="KoPub돋움체 Bold" pitchFamily="18" charset="-127"/>
            </a:endParaRPr>
          </a:p>
          <a:p>
            <a:pPr algn="l">
              <a:defRPr/>
            </a:pP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	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컬럼과 나머지 평균값 설정을 자동화 했습니다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.</a:t>
            </a: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0ACD536B-8DEF-CFB4-EC30-115916A07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041" y="2287181"/>
            <a:ext cx="7632848" cy="69249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l">
              <a:defRPr/>
            </a:pP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이번 프로젝트는 해수면 </a:t>
            </a:r>
            <a:r>
              <a:rPr lang="ko-KR" altLang="en-US" sz="1500" kern="0" dirty="0" err="1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상승량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(GMSL)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을 예측하고 </a:t>
            </a:r>
            <a:r>
              <a:rPr lang="ko-KR" altLang="en-US" sz="1500" kern="0" dirty="0" err="1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머신러닝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 모델을 구축하고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, 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이를 </a:t>
            </a:r>
            <a:r>
              <a:rPr lang="en-US" altLang="ko-KR" sz="1500" kern="0" dirty="0" err="1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Streamlit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 </a:t>
            </a:r>
            <a:r>
              <a:rPr lang="ko-KR" altLang="en-US" sz="1500" kern="0" dirty="0" err="1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웹앱으로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 구현하는 과정을 포함하였습니다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. 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데이터를 전처리하고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, 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모델을 학습 및 저장한 후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, 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직관적인 사용자 인터페이스를 제공해 </a:t>
            </a:r>
            <a:r>
              <a:rPr lang="ko-KR" altLang="en-US" sz="1500" kern="0" dirty="0" err="1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예측값을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 쉽게 확인할 수 있도록 디자인 했습니다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.</a:t>
            </a:r>
            <a:endParaRPr lang="ko-KR" altLang="en-US" sz="1500" kern="0" dirty="0">
              <a:solidFill>
                <a:prstClr val="black"/>
              </a:solidFill>
              <a:latin typeface="KoPub돋움체 Bold" pitchFamily="18" charset="-127"/>
              <a:ea typeface="KoPub돋움체 Bold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BE541C1-7D8F-81F6-768C-81BB0EB941A3}"/>
              </a:ext>
            </a:extLst>
          </p:cNvPr>
          <p:cNvGrpSpPr/>
          <p:nvPr/>
        </p:nvGrpSpPr>
        <p:grpSpPr>
          <a:xfrm>
            <a:off x="616214" y="1622678"/>
            <a:ext cx="1513863" cy="230832"/>
            <a:chOff x="672807" y="1756802"/>
            <a:chExt cx="1513863" cy="230832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8F116731-7EAB-C9A3-2C16-62B698DD1741}"/>
                </a:ext>
              </a:extLst>
            </p:cNvPr>
            <p:cNvGrpSpPr/>
            <p:nvPr/>
          </p:nvGrpSpPr>
          <p:grpSpPr>
            <a:xfrm>
              <a:off x="672807" y="1811663"/>
              <a:ext cx="230932" cy="146559"/>
              <a:chOff x="215900" y="2790255"/>
              <a:chExt cx="160090" cy="101600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7C74FEA2-C138-0AA8-44A7-83B44749EDF2}"/>
                  </a:ext>
                </a:extLst>
              </p:cNvPr>
              <p:cNvCxnSpPr/>
              <p:nvPr/>
            </p:nvCxnSpPr>
            <p:spPr bwMode="auto">
              <a:xfrm>
                <a:off x="231974" y="2841055"/>
                <a:ext cx="144016" cy="0"/>
              </a:xfrm>
              <a:prstGeom prst="line">
                <a:avLst/>
              </a:prstGeom>
              <a:noFill/>
              <a:ln w="6350">
                <a:solidFill>
                  <a:srgbClr val="3C9CD8"/>
                </a:solidFill>
                <a:miter lim="800000"/>
                <a:headEnd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979D459B-16AF-E1DB-33B1-0383DFD2C993}"/>
                  </a:ext>
                </a:extLst>
              </p:cNvPr>
              <p:cNvSpPr/>
              <p:nvPr/>
            </p:nvSpPr>
            <p:spPr>
              <a:xfrm>
                <a:off x="215900" y="2790255"/>
                <a:ext cx="101600" cy="101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3C9CD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00" b="1" dirty="0">
                  <a:solidFill>
                    <a:prstClr val="white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sp>
          <p:nvSpPr>
            <p:cNvPr id="18" name="Rectangle 8">
              <a:extLst>
                <a:ext uri="{FF2B5EF4-FFF2-40B4-BE49-F238E27FC236}">
                  <a16:creationId xmlns:a16="http://schemas.microsoft.com/office/drawing/2014/main" id="{025A2B6D-4DBD-4AC1-E118-C5233C63D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568" y="1756802"/>
              <a:ext cx="1122102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>
                <a:defRPr/>
              </a:pPr>
              <a:r>
                <a:rPr lang="ko-KR" altLang="en-US" sz="1500" kern="0" dirty="0">
                  <a:solidFill>
                    <a:prstClr val="black"/>
                  </a:solidFill>
                  <a:latin typeface="KoPub돋움체 Bold" pitchFamily="18" charset="-127"/>
                  <a:ea typeface="KoPub돋움체 Bold" pitchFamily="18" charset="-127"/>
                </a:rPr>
                <a:t> 프로젝트 개요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E422752-24CF-CDC8-02DD-B9E8D441F02E}"/>
              </a:ext>
            </a:extLst>
          </p:cNvPr>
          <p:cNvGrpSpPr/>
          <p:nvPr/>
        </p:nvGrpSpPr>
        <p:grpSpPr>
          <a:xfrm>
            <a:off x="614274" y="3717032"/>
            <a:ext cx="1177232" cy="230832"/>
            <a:chOff x="672807" y="1756802"/>
            <a:chExt cx="1177232" cy="230832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CC9757B-9CC6-D3C8-E792-9F57B5279095}"/>
                </a:ext>
              </a:extLst>
            </p:cNvPr>
            <p:cNvGrpSpPr/>
            <p:nvPr/>
          </p:nvGrpSpPr>
          <p:grpSpPr>
            <a:xfrm>
              <a:off x="672807" y="1811663"/>
              <a:ext cx="230932" cy="146559"/>
              <a:chOff x="215900" y="2790255"/>
              <a:chExt cx="160090" cy="101600"/>
            </a:xfrm>
          </p:grpSpPr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DDA43B45-B36F-E50A-FA20-725A1DD836D5}"/>
                  </a:ext>
                </a:extLst>
              </p:cNvPr>
              <p:cNvCxnSpPr/>
              <p:nvPr/>
            </p:nvCxnSpPr>
            <p:spPr bwMode="auto">
              <a:xfrm>
                <a:off x="231974" y="2841055"/>
                <a:ext cx="144016" cy="0"/>
              </a:xfrm>
              <a:prstGeom prst="line">
                <a:avLst/>
              </a:prstGeom>
              <a:noFill/>
              <a:ln w="6350">
                <a:solidFill>
                  <a:srgbClr val="3C9CD8"/>
                </a:solidFill>
                <a:miter lim="800000"/>
                <a:headEnd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B5D1A48F-348E-61AE-153D-82BCF91282DF}"/>
                  </a:ext>
                </a:extLst>
              </p:cNvPr>
              <p:cNvSpPr/>
              <p:nvPr/>
            </p:nvSpPr>
            <p:spPr>
              <a:xfrm>
                <a:off x="215900" y="2790255"/>
                <a:ext cx="101600" cy="101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3C9CD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00" b="1" dirty="0">
                  <a:solidFill>
                    <a:prstClr val="white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sp>
          <p:nvSpPr>
            <p:cNvPr id="23" name="Rectangle 8">
              <a:extLst>
                <a:ext uri="{FF2B5EF4-FFF2-40B4-BE49-F238E27FC236}">
                  <a16:creationId xmlns:a16="http://schemas.microsoft.com/office/drawing/2014/main" id="{D55B0713-CBE7-D4EE-2A76-B1C09C4FA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568" y="1756802"/>
              <a:ext cx="785471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>
                <a:defRPr/>
              </a:pPr>
              <a:r>
                <a:rPr lang="ko-KR" altLang="en-US" sz="1500" kern="0" dirty="0">
                  <a:solidFill>
                    <a:prstClr val="black"/>
                  </a:solidFill>
                  <a:latin typeface="KoPub돋움체 Bold" pitchFamily="18" charset="-127"/>
                  <a:ea typeface="KoPub돋움체 Bold" pitchFamily="18" charset="-127"/>
                </a:rPr>
                <a:t> 도전 과제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8422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E098D-0191-FF44-505C-FB0D62971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4">
            <a:extLst>
              <a:ext uri="{FF2B5EF4-FFF2-40B4-BE49-F238E27FC236}">
                <a16:creationId xmlns:a16="http://schemas.microsoft.com/office/drawing/2014/main" id="{50D66D6E-2CA8-9DCB-BDF5-E73F06843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180132"/>
            <a:ext cx="390683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4.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주요 결과물 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– 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프로토타이핑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화면</a:t>
            </a:r>
            <a:r>
              <a:rPr lang="en-US" altLang="ko-KR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20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" name="모서리가 둥근 직사각형 46">
            <a:extLst>
              <a:ext uri="{FF2B5EF4-FFF2-40B4-BE49-F238E27FC236}">
                <a16:creationId xmlns:a16="http://schemas.microsoft.com/office/drawing/2014/main" id="{5EA784BB-18D5-87EC-F6B8-312EA20C45E5}"/>
              </a:ext>
            </a:extLst>
          </p:cNvPr>
          <p:cNvSpPr/>
          <p:nvPr/>
        </p:nvSpPr>
        <p:spPr>
          <a:xfrm>
            <a:off x="417123" y="950176"/>
            <a:ext cx="4087283" cy="533400"/>
          </a:xfrm>
          <a:prstGeom prst="roundRect">
            <a:avLst>
              <a:gd name="adj" fmla="val 50000"/>
            </a:avLst>
          </a:prstGeom>
          <a:solidFill>
            <a:srgbClr val="005094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프로젝트 후기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6CA62AF0-4683-3B17-3ADC-0A20D356A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041" y="4174419"/>
            <a:ext cx="7734465" cy="161582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l">
              <a:defRPr/>
            </a:pP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1. 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데이터 정교화 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: 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보다 다양한 날짜 정보를 활용하거나 데이터 품질을 더욱 높여 예측 성능을 향상시킬 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	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수 있을 것입니다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.</a:t>
            </a:r>
          </a:p>
          <a:p>
            <a:pPr algn="l">
              <a:defRPr/>
            </a:pP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2. 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모델 최적화 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:</a:t>
            </a:r>
          </a:p>
          <a:p>
            <a:pPr algn="l">
              <a:defRPr/>
            </a:pP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	LSTM 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외에도 다른 딥러닝 모델을 실험하여 성능 비교 및 개선을 추진할 수 있습니다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.</a:t>
            </a:r>
          </a:p>
          <a:p>
            <a:pPr algn="l">
              <a:defRPr/>
            </a:pP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3. UI/UX 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향상 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: </a:t>
            </a:r>
          </a:p>
          <a:p>
            <a:pPr algn="l">
              <a:defRPr/>
            </a:pP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	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예측 결과를 그래프로 </a:t>
            </a:r>
            <a:r>
              <a:rPr lang="ko-KR" altLang="en-US" sz="1500" kern="0" dirty="0" err="1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시각화하거나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, </a:t>
            </a:r>
            <a:r>
              <a:rPr lang="ko-KR" altLang="en-US" sz="1500" kern="0" dirty="0" err="1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입력값에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 대한 실시간 피드백을 추가하는 등 사용자 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	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경험을 더욱 개선할 수 있을 것입니다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.</a:t>
            </a: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9327E854-0981-22D5-2FC5-D7C95886E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6781" y="2253697"/>
            <a:ext cx="7632848" cy="69249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algn="l">
              <a:defRPr/>
            </a:pP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이번 프로젝트는 데이터 분석과 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AI 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모델 개발 뿐만 아니라 실시간 예측 기능을 웹으로 제공하는 전 과정을 경험할 수 있었던 기회였습니다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. 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데이터를 보는 눈을 키우고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, 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기술적 문제를 해결하는 과정을 통해 성장할 수 있었으며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, </a:t>
            </a:r>
            <a:r>
              <a: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사용자 친화적인 인터페이스 개발의 중요성도 깨달을 수 있었습니다</a:t>
            </a:r>
            <a:r>
              <a:rPr lang="en-US" altLang="ko-KR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rPr>
              <a:t>.</a:t>
            </a:r>
            <a:endParaRPr lang="ko-KR" altLang="en-US" sz="1500" kern="0" dirty="0">
              <a:solidFill>
                <a:prstClr val="black"/>
              </a:solidFill>
              <a:latin typeface="KoPub돋움체 Bold" pitchFamily="18" charset="-127"/>
              <a:ea typeface="KoPub돋움체 Bold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9D03374-F41E-F351-27BA-AD13F2FFFD15}"/>
              </a:ext>
            </a:extLst>
          </p:cNvPr>
          <p:cNvGrpSpPr/>
          <p:nvPr/>
        </p:nvGrpSpPr>
        <p:grpSpPr>
          <a:xfrm>
            <a:off x="616214" y="1622678"/>
            <a:ext cx="952812" cy="230832"/>
            <a:chOff x="672807" y="1756802"/>
            <a:chExt cx="952812" cy="230832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C195D360-23A6-B07F-BB48-17358EB6606C}"/>
                </a:ext>
              </a:extLst>
            </p:cNvPr>
            <p:cNvGrpSpPr/>
            <p:nvPr/>
          </p:nvGrpSpPr>
          <p:grpSpPr>
            <a:xfrm>
              <a:off x="672807" y="1811663"/>
              <a:ext cx="230932" cy="146559"/>
              <a:chOff x="215900" y="2790255"/>
              <a:chExt cx="160090" cy="101600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BB24F8FB-07F1-9F19-1FED-5F66B0CEC123}"/>
                  </a:ext>
                </a:extLst>
              </p:cNvPr>
              <p:cNvCxnSpPr/>
              <p:nvPr/>
            </p:nvCxnSpPr>
            <p:spPr bwMode="auto">
              <a:xfrm>
                <a:off x="231974" y="2841055"/>
                <a:ext cx="144016" cy="0"/>
              </a:xfrm>
              <a:prstGeom prst="line">
                <a:avLst/>
              </a:prstGeom>
              <a:noFill/>
              <a:ln w="6350">
                <a:solidFill>
                  <a:srgbClr val="3C9CD8"/>
                </a:solidFill>
                <a:miter lim="800000"/>
                <a:headEnd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E76CE183-EB51-BB39-131E-58D88997C605}"/>
                  </a:ext>
                </a:extLst>
              </p:cNvPr>
              <p:cNvSpPr/>
              <p:nvPr/>
            </p:nvSpPr>
            <p:spPr>
              <a:xfrm>
                <a:off x="215900" y="2790255"/>
                <a:ext cx="101600" cy="101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3C9CD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00" b="1" dirty="0">
                  <a:solidFill>
                    <a:prstClr val="white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sp>
          <p:nvSpPr>
            <p:cNvPr id="18" name="Rectangle 8">
              <a:extLst>
                <a:ext uri="{FF2B5EF4-FFF2-40B4-BE49-F238E27FC236}">
                  <a16:creationId xmlns:a16="http://schemas.microsoft.com/office/drawing/2014/main" id="{E57C013C-F552-1D85-2F83-4E673650D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568" y="1756802"/>
              <a:ext cx="561051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>
                <a:defRPr/>
              </a:pPr>
              <a:r>
                <a:rPr lang="ko-KR" altLang="en-US" sz="1500" kern="0" dirty="0">
                  <a:solidFill>
                    <a:prstClr val="black"/>
                  </a:solidFill>
                  <a:latin typeface="KoPub돋움체 Bold" pitchFamily="18" charset="-127"/>
                  <a:ea typeface="KoPub돋움체 Bold" pitchFamily="18" charset="-127"/>
                </a:rPr>
                <a:t> </a:t>
              </a:r>
              <a:r>
                <a:rPr lang="ko-KR" altLang="en-US" sz="1500" kern="0" dirty="0" err="1">
                  <a:solidFill>
                    <a:prstClr val="black"/>
                  </a:solidFill>
                  <a:latin typeface="KoPub돋움체 Bold" pitchFamily="18" charset="-127"/>
                  <a:ea typeface="KoPub돋움체 Bold" pitchFamily="18" charset="-127"/>
                </a:rPr>
                <a:t>느낀점</a:t>
              </a:r>
              <a:endParaRPr lang="ko-KR" altLang="en-US" sz="1500" kern="0" dirty="0">
                <a:solidFill>
                  <a:prstClr val="black"/>
                </a:solidFill>
                <a:latin typeface="KoPub돋움체 Bold" pitchFamily="18" charset="-127"/>
                <a:ea typeface="KoPub돋움체 Bold" pitchFamily="18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A8D706D-1C25-AE60-5CD4-15C317487257}"/>
              </a:ext>
            </a:extLst>
          </p:cNvPr>
          <p:cNvGrpSpPr/>
          <p:nvPr/>
        </p:nvGrpSpPr>
        <p:grpSpPr>
          <a:xfrm>
            <a:off x="614274" y="3717032"/>
            <a:ext cx="1569969" cy="230832"/>
            <a:chOff x="672807" y="1756802"/>
            <a:chExt cx="1569969" cy="230832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1468A88C-A48E-A2E9-FF6A-DB9ABBE92A8C}"/>
                </a:ext>
              </a:extLst>
            </p:cNvPr>
            <p:cNvGrpSpPr/>
            <p:nvPr/>
          </p:nvGrpSpPr>
          <p:grpSpPr>
            <a:xfrm>
              <a:off x="672807" y="1811663"/>
              <a:ext cx="230932" cy="146559"/>
              <a:chOff x="215900" y="2790255"/>
              <a:chExt cx="160090" cy="101600"/>
            </a:xfrm>
          </p:grpSpPr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29E18484-EF57-F9E1-8CFE-B476B58BD963}"/>
                  </a:ext>
                </a:extLst>
              </p:cNvPr>
              <p:cNvCxnSpPr/>
              <p:nvPr/>
            </p:nvCxnSpPr>
            <p:spPr bwMode="auto">
              <a:xfrm>
                <a:off x="231974" y="2841055"/>
                <a:ext cx="144016" cy="0"/>
              </a:xfrm>
              <a:prstGeom prst="line">
                <a:avLst/>
              </a:prstGeom>
              <a:noFill/>
              <a:ln w="6350">
                <a:solidFill>
                  <a:srgbClr val="3C9CD8"/>
                </a:solidFill>
                <a:miter lim="800000"/>
                <a:headEnd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B3205F04-70EE-3E7D-27E7-6ADAB7D90C0E}"/>
                  </a:ext>
                </a:extLst>
              </p:cNvPr>
              <p:cNvSpPr/>
              <p:nvPr/>
            </p:nvSpPr>
            <p:spPr>
              <a:xfrm>
                <a:off x="215900" y="2790255"/>
                <a:ext cx="101600" cy="101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3C9CD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00" b="1" dirty="0">
                  <a:solidFill>
                    <a:prstClr val="white"/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sp>
          <p:nvSpPr>
            <p:cNvPr id="23" name="Rectangle 8">
              <a:extLst>
                <a:ext uri="{FF2B5EF4-FFF2-40B4-BE49-F238E27FC236}">
                  <a16:creationId xmlns:a16="http://schemas.microsoft.com/office/drawing/2014/main" id="{B4CC0693-FB90-C5A4-333C-4EBD4616D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568" y="1756802"/>
              <a:ext cx="1178208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>
                <a:defRPr/>
              </a:pPr>
              <a:r>
                <a:rPr lang="ko-KR" altLang="en-US" sz="1500" kern="0" dirty="0">
                  <a:solidFill>
                    <a:prstClr val="black"/>
                  </a:solidFill>
                  <a:latin typeface="KoPub돋움체 Bold" pitchFamily="18" charset="-127"/>
                  <a:ea typeface="KoPub돋움체 Bold" pitchFamily="18" charset="-127"/>
                </a:rPr>
                <a:t> 향후 개선 방향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2074319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noFill/>
          <a:prstDash val="solid"/>
          <a:round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1" lang="ko-KR" altLang="en-US" sz="1800" b="0" i="0" u="none" strike="noStrike" cap="none" normalizeH="0" baseline="0" smtClean="0">
            <a:solidFill>
              <a:schemeClr val="tx1"/>
            </a:solidFill>
            <a:effectLst/>
            <a:latin typeface="굴림"/>
            <a:ea typeface="굴림"/>
          </a:defRPr>
        </a:defPPr>
      </a:lstStyle>
    </a:spDef>
    <a:lnDef>
      <a:spPr>
        <a:solidFill>
          <a:schemeClr val="accent1"/>
        </a:solidFill>
        <a:ln w="9525" cap="flat" cmpd="sng" algn="ctr">
          <a:noFill/>
          <a:prstDash val="solid"/>
          <a:round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1" lang="ko-KR" altLang="en-US" sz="1800" b="0" i="0" u="none" strike="noStrike" cap="none" normalizeH="0" baseline="0" smtClean="0">
            <a:solidFill>
              <a:schemeClr val="tx1"/>
            </a:solidFill>
            <a:effectLst/>
            <a:latin typeface="굴림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1688</TotalTime>
  <Words>2188</Words>
  <Application>Microsoft Office PowerPoint</Application>
  <PresentationFormat>A4 용지(210x297mm)</PresentationFormat>
  <Paragraphs>208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3" baseType="lpstr">
      <vt:lpstr>굴림</vt:lpstr>
      <vt:lpstr>Rix고딕 M</vt:lpstr>
      <vt:lpstr>KoPub돋움체 Bold</vt:lpstr>
      <vt:lpstr>맑은 고딕</vt:lpstr>
      <vt:lpstr>Arial</vt:lpstr>
      <vt:lpstr>나눔고딕 ExtraBold</vt:lpstr>
      <vt:lpstr>KoPub돋움체 Light</vt:lpstr>
      <vt:lpstr>나눔바른고딕</vt:lpstr>
      <vt:lpstr>KoPub돋움체 Medium</vt:lpstr>
      <vt:lpstr>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통로이미지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디비비전(주)</dc:creator>
  <cp:lastModifiedBy>주철 최</cp:lastModifiedBy>
  <cp:revision>561</cp:revision>
  <dcterms:created xsi:type="dcterms:W3CDTF">2007-11-11T16:17:21Z</dcterms:created>
  <dcterms:modified xsi:type="dcterms:W3CDTF">2025-03-27T06:26:41Z</dcterms:modified>
  <cp:version>1000.0000.01</cp:version>
</cp:coreProperties>
</file>